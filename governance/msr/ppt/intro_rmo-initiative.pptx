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bfb1e61e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3cbfb1e61e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274638" y="60960"/>
            <a:ext cx="700000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Overall: Records Management Initiative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620000" y="60960"/>
            <a:ext cx="13701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Kyowa Kirin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274638" y="609600"/>
            <a:ext cx="859472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5FA0"/>
                </a:solidFill>
                <a:latin typeface="Calibri"/>
                <a:ea typeface="Calibri"/>
                <a:cs typeface="Calibri"/>
                <a:sym typeface="Calibri"/>
              </a:rPr>
              <a:t>Records Governance Framework — Compliance / Risk Reduction / Cost Optimization / Global Governance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274638" y="876300"/>
            <a:ext cx="2560320" cy="365760"/>
          </a:xfrm>
          <a:prstGeom prst="rect">
            <a:avLst/>
          </a:prstGeom>
          <a:solidFill>
            <a:srgbClr val="163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74638" y="8763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74638" y="1242060"/>
            <a:ext cx="2560320" cy="3626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1295400"/>
            <a:ext cx="23788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Background &amp; Challenges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65760" y="1630680"/>
            <a:ext cx="2378880" cy="3145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065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Char char="-"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紙文書から電子文書中心へ移行したが、電子記録管理の仕組み・役割責任が未定義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Char char="-"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10年前の文書管理規程が電子化・規制更新に対応できず、PDCAサイクルが未確立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Char char="-"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売上7割強が海外依存となり、日本中心ガバナンスの規程がグローバル体制に未対応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065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D2B1F"/>
              </a:buClr>
              <a:buSzPts val="1000"/>
              <a:buFont typeface="Calibri"/>
              <a:buChar char="-"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過剰保有によるコスト増大、訴訟時のe-discoveryリスク（捜索コスト・証拠信頼性低下）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26638" y="2194560"/>
            <a:ext cx="228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46558" y="876300"/>
            <a:ext cx="2743200" cy="36576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246558" y="8763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246558" y="1242060"/>
            <a:ext cx="2743200" cy="225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37920" y="1295400"/>
            <a:ext cx="25603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Solution &amp; Maturity Model</a:t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37920" y="1600200"/>
            <a:ext cx="2560320" cy="1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5-stage maturity model (ISO 30301 PDCA):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0000"/>
                </a:solidFill>
                <a:latin typeface="Arial"/>
                <a:ea typeface="Arial"/>
                <a:cs typeface="Arial"/>
                <a:sym typeface="Arial"/>
              </a:rPr>
              <a:t>Lv1 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管理されていない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：アドホック管理、散在・重複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C5500"/>
                </a:solidFill>
                <a:latin typeface="Arial"/>
                <a:ea typeface="Arial"/>
                <a:cs typeface="Arial"/>
                <a:sym typeface="Arial"/>
              </a:rPr>
              <a:t>Lv2 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初期段階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：基本ルール・保管方法整備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Lv3 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定義済み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：プロセス標準化・組織横断適用（グローバル含む）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Lv4 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管理されている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：KPI管理・システム統合運用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Lv5 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最適化されている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：継続改善・自動化イノベーション</a:t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246558" y="3553020"/>
            <a:ext cx="2743200" cy="1315080"/>
          </a:xfrm>
          <a:prstGeom prst="rect">
            <a:avLst/>
          </a:prstGeom>
          <a:solidFill>
            <a:srgbClr val="EBF2FA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337920" y="3606360"/>
            <a:ext cx="256032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3E6E"/>
                </a:solidFill>
                <a:latin typeface="Arial"/>
                <a:ea typeface="Arial"/>
                <a:cs typeface="Arial"/>
                <a:sym typeface="Arial"/>
              </a:rPr>
              <a:t>Stakeholder Model</a:t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3337925" y="3867708"/>
            <a:ext cx="26517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文書管理委員会が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横断的に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グローバル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連携：品質／事業部門（BUs）／法務／コンプライアンス</a:t>
            </a:r>
            <a:endParaRPr b="0" i="0" sz="900" u="none" cap="none" strike="noStrike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900" u="none" cap="none" strike="noStrike">
                <a:solidFill>
                  <a:srgbClr val="163E6E"/>
                </a:solidFill>
                <a:latin typeface="Arial"/>
                <a:ea typeface="Arial"/>
                <a:cs typeface="Arial"/>
                <a:sym typeface="Arial"/>
              </a:rPr>
              <a:t>Benefits: 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コンプライアンス強化、監査効率向上、リスク低減、コスト削減、証拠信頼性向上、グローバル・ガバナンスの確立</a:t>
            </a:r>
            <a:endParaRPr sz="900"/>
          </a:p>
        </p:txBody>
      </p:sp>
      <p:sp>
        <p:nvSpPr>
          <p:cNvPr id="33" name="Google Shape;33;p3"/>
          <p:cNvSpPr/>
          <p:nvPr/>
        </p:nvSpPr>
        <p:spPr>
          <a:xfrm>
            <a:off x="6081318" y="2194560"/>
            <a:ext cx="228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01478" y="876300"/>
            <a:ext cx="2469480" cy="365760"/>
          </a:xfrm>
          <a:prstGeom prst="rect">
            <a:avLst/>
          </a:prstGeom>
          <a:solidFill>
            <a:srgbClr val="163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401478" y="876300"/>
            <a:ext cx="2469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401478" y="1242060"/>
            <a:ext cx="2469480" cy="2256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01478" y="3559860"/>
            <a:ext cx="2469480" cy="130824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492840" y="3613200"/>
            <a:ext cx="2286720" cy="24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Annual Goals</a:t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492840" y="3830000"/>
            <a:ext cx="2286720" cy="958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b="0" i="0" lang="en-US" sz="8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記録管理体制の再検討と合意（5社協議</a:t>
            </a:r>
            <a:endParaRPr sz="83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b="0" i="0" lang="en-US" sz="8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役割責任の明確化と全体周知（日本中心ガバナンスからの移行）</a:t>
            </a:r>
            <a:endParaRPr/>
          </a:p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b="0" i="0" lang="en-US" sz="8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文書整備状況の確認と未定義文書の明確化</a:t>
            </a:r>
            <a:r>
              <a:rPr b="0" i="0" lang="en-US" sz="6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64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保存期間ルール・廃棄基準・役割RACIマトリクス</a:t>
            </a:r>
            <a:r>
              <a:rPr b="0" i="0" lang="en-US" sz="64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/>
          </a:p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b="0" i="0" lang="en-US" sz="83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新たなPDCAサイクルの始動</a:t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492840" y="1295400"/>
            <a:ext cx="2286600" cy="21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#1 Maturity Assessment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評価観点で現状スコアリングし、可視化ダッシュボード構築。ガバナンスモデル・プロセス定義で習熟度向上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63E6E"/>
                </a:solidFill>
                <a:latin typeface="Arial"/>
                <a:ea typeface="Arial"/>
                <a:cs typeface="Arial"/>
                <a:sym typeface="Arial"/>
              </a:rPr>
              <a:t>#2 Records Management System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SharePoint Online機能拡張で紙/電子文書共通のライフサイクル管理を実現。ライフサイクル管理に基づく自動削除、役割責任ラシ・権限設定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63E6E"/>
                </a:solidFill>
                <a:latin typeface="Arial"/>
                <a:ea typeface="Arial"/>
                <a:cs typeface="Arial"/>
                <a:sym typeface="Arial"/>
              </a:rPr>
              <a:t>#3 Policy &amp; Responsibility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0" i="0" lang="en-US" sz="87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グローバルを前提としたガバナンス・文書管理規程体系を整備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F0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5487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74638" y="60960"/>
            <a:ext cx="6999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Overall: Records Management Initiative</a:t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7620000" y="60960"/>
            <a:ext cx="13701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Kyowa Kirin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74638" y="609600"/>
            <a:ext cx="85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5FA0"/>
                </a:solidFill>
                <a:latin typeface="Calibri"/>
                <a:ea typeface="Calibri"/>
                <a:cs typeface="Calibri"/>
                <a:sym typeface="Calibri"/>
              </a:rPr>
              <a:t>Records Governance Framework — Compliance / Risk Reduction / Cost Optimization / Global Governance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74638" y="876300"/>
            <a:ext cx="2560200" cy="365700"/>
          </a:xfrm>
          <a:prstGeom prst="rect">
            <a:avLst/>
          </a:prstGeom>
          <a:solidFill>
            <a:srgbClr val="163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74638" y="876300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</a:t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74638" y="1242060"/>
            <a:ext cx="2560200" cy="362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365760" y="1295400"/>
            <a:ext cx="237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Background &amp; Challenges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65760" y="1630680"/>
            <a:ext cx="2379000" cy="3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The organization has shifted from paper documents to primarily electronic documents, but the mechanisms, roles, and responsibilities for electronic records management have not been defined.</a:t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The document management regulations established 10 years ago cannot accommodate digitization or regulatory updates, and a PDCA (Plan-Do-Check-Act) cycle has not been established.</a:t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More than 70% of revenue depends on overseas operations, yet governance rules centered on Japan are not aligned with a global operating structure.</a:t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Excessive document retention has increased costs and created e-discovery risks in litigation (higher search costs and reduced reliability of evidence).</a:t>
            </a:r>
            <a:endParaRPr sz="10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926638" y="2194560"/>
            <a:ext cx="228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246558" y="876300"/>
            <a:ext cx="2743200" cy="3657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246558" y="87630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246558" y="1242060"/>
            <a:ext cx="2743200" cy="225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337920" y="1295400"/>
            <a:ext cx="256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Solution &amp; Maturity Model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337920" y="1600200"/>
            <a:ext cx="2560200" cy="18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0" i="0" lang="en-US" sz="92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5-stage maturity model (ISO 30301 PDCA):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B0000"/>
                </a:solidFill>
                <a:latin typeface="Arial"/>
                <a:ea typeface="Arial"/>
                <a:cs typeface="Arial"/>
                <a:sym typeface="Arial"/>
              </a:rPr>
              <a:t>Lv1 </a:t>
            </a:r>
            <a:r>
              <a:rPr b="1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Unmanaged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 / Ad hoc: records are scattered and duplicated.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C5500"/>
                </a:solidFill>
                <a:latin typeface="Arial"/>
                <a:ea typeface="Arial"/>
                <a:cs typeface="Arial"/>
                <a:sym typeface="Arial"/>
              </a:rPr>
              <a:t>Lv2 </a:t>
            </a:r>
            <a:r>
              <a:rPr b="1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Initial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: Basic rules and retention/storage methods are established.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E5799"/>
                </a:solidFill>
                <a:latin typeface="Arial"/>
                <a:ea typeface="Arial"/>
                <a:cs typeface="Arial"/>
                <a:sym typeface="Arial"/>
              </a:rPr>
              <a:t>Lv3 </a:t>
            </a:r>
            <a:r>
              <a:rPr b="1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Defined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: Processes are standardized and applied organization-wide (including global)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Lv4 </a:t>
            </a:r>
            <a:r>
              <a:rPr b="1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Managed</a:t>
            </a:r>
            <a:r>
              <a:rPr b="0" i="0" lang="en-US" sz="9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: KPI-based management and integrated system operations.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Lv5 </a:t>
            </a:r>
            <a:r>
              <a:rPr b="1"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Optimizing</a:t>
            </a:r>
            <a:r>
              <a:rPr lang="en-US" sz="9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: Continuous improvement and innovation through automation</a:t>
            </a:r>
            <a:endParaRPr sz="900">
              <a:solidFill>
                <a:srgbClr val="3D2B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246558" y="3553020"/>
            <a:ext cx="2743200" cy="1315200"/>
          </a:xfrm>
          <a:prstGeom prst="rect">
            <a:avLst/>
          </a:prstGeom>
          <a:solidFill>
            <a:srgbClr val="EBF2FA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3337920" y="3606360"/>
            <a:ext cx="2560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3E6E"/>
                </a:solidFill>
                <a:latin typeface="Arial"/>
                <a:ea typeface="Arial"/>
                <a:cs typeface="Arial"/>
                <a:sym typeface="Arial"/>
              </a:rPr>
              <a:t>Stakeholder Model</a:t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337925" y="3867708"/>
            <a:ext cx="26517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RMO as global hub coordinating:</a:t>
            </a:r>
            <a:br>
              <a:rPr lang="en-US"/>
            </a:br>
            <a:r>
              <a:rPr lang="en-US" sz="1000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Quality / BUs / </a:t>
            </a: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Legal / Compliance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63E6E"/>
                </a:solidFill>
                <a:latin typeface="Arial"/>
                <a:ea typeface="Arial"/>
                <a:cs typeface="Arial"/>
                <a:sym typeface="Arial"/>
              </a:rPr>
              <a:t>Benefits: </a:t>
            </a:r>
            <a:r>
              <a:rPr b="0" i="0" lang="en-US" sz="1000" u="none" cap="none" strike="noStrike">
                <a:solidFill>
                  <a:srgbClr val="3D2B1F"/>
                </a:solidFill>
                <a:latin typeface="Calibri"/>
                <a:ea typeface="Calibri"/>
                <a:cs typeface="Calibri"/>
                <a:sym typeface="Calibri"/>
              </a:rPr>
              <a:t>Compliance, audit efficiency, risk reduction, cost savings, evidence reliability, global governance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081318" y="2194560"/>
            <a:ext cx="228600" cy="30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01478" y="876300"/>
            <a:ext cx="2469600" cy="365700"/>
          </a:xfrm>
          <a:prstGeom prst="rect">
            <a:avLst/>
          </a:prstGeom>
          <a:solidFill>
            <a:srgbClr val="163E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401478" y="876300"/>
            <a:ext cx="246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6401478" y="1242060"/>
            <a:ext cx="2469600" cy="2256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E5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1478" y="3559860"/>
            <a:ext cx="2469600" cy="1308300"/>
          </a:xfrm>
          <a:prstGeom prst="rect">
            <a:avLst/>
          </a:prstGeom>
          <a:solidFill>
            <a:srgbClr val="1E579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92840" y="3613200"/>
            <a:ext cx="22866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Annual Goals</a:t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6492840" y="1295400"/>
            <a:ext cx="2286600" cy="21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lang="en-US" sz="980">
                <a:solidFill>
                  <a:srgbClr val="1E5799"/>
                </a:solidFill>
              </a:rPr>
              <a:t>#1 Maturity Assessment</a:t>
            </a:r>
            <a:endParaRPr b="1" sz="980">
              <a:solidFill>
                <a:srgbClr val="1E57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780">
                <a:solidFill>
                  <a:srgbClr val="3D2B1F"/>
                </a:solidFill>
              </a:rPr>
              <a:t>Score the current state against assessment criteria, visualize results in a dashboard, and improve maturity through governance and process definition.</a:t>
            </a:r>
            <a:endParaRPr sz="780">
              <a:solidFill>
                <a:srgbClr val="3D2B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lang="en-US" sz="980">
                <a:solidFill>
                  <a:srgbClr val="1E5799"/>
                </a:solidFill>
              </a:rPr>
              <a:t>#2 Records Management System</a:t>
            </a:r>
            <a:endParaRPr b="1" sz="980">
              <a:solidFill>
                <a:srgbClr val="1E57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780">
                <a:solidFill>
                  <a:srgbClr val="3D2B1F"/>
                </a:solidFill>
              </a:rPr>
              <a:t>Extend SharePoint Online to manage paper and electronic records across their lifecycle, including automated disposition, roles (RACI), and access controls.</a:t>
            </a:r>
            <a:endParaRPr sz="780">
              <a:solidFill>
                <a:srgbClr val="3D2B1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lang="en-US" sz="980">
                <a:solidFill>
                  <a:srgbClr val="1E5799"/>
                </a:solidFill>
              </a:rPr>
              <a:t>#3 Policy &amp; Responsibility</a:t>
            </a:r>
            <a:endParaRPr b="1" sz="980">
              <a:solidFill>
                <a:srgbClr val="1E57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780">
                <a:solidFill>
                  <a:srgbClr val="3D2B1F"/>
                </a:solidFill>
              </a:rPr>
              <a:t>Develop a global-ready governance and records management policy framework, defining retention rules, disposal criteria, and role responsibilities.</a:t>
            </a:r>
            <a:endParaRPr sz="780">
              <a:solidFill>
                <a:srgbClr val="3D2B1F"/>
              </a:solidFill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92840" y="3830000"/>
            <a:ext cx="22866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0490" lvl="0" marL="57150" marR="0" rtl="0" algn="l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lang="en-US" sz="8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five-company joint discussions.</a:t>
            </a:r>
            <a:endParaRPr sz="83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lang="en-US" sz="8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Clarification of roles and responsibilities and organization-wide communication </a:t>
            </a:r>
            <a:endParaRPr sz="83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lang="en-US" sz="8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Identification of undefined or undocumented records.</a:t>
            </a:r>
            <a:endParaRPr sz="83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0490" lvl="0" marL="571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"/>
              <a:buFont typeface="Calibri"/>
              <a:buChar char="●"/>
            </a:pPr>
            <a:r>
              <a:rPr lang="en-US" sz="839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Launch of a new PDCA cycle.</a:t>
            </a:r>
            <a:endParaRPr sz="839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