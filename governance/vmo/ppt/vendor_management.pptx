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Current Issues of vendor management preparing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600"/>
              <a:buFont typeface="Calibri"/>
              <a:buNone/>
            </a:pPr>
            <a:r>
              <a:rPr lang="en-US" sz="1600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16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hallenges in data reliability and completeness to initiate vendor management activities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57200" y="1463040"/>
            <a:ext cx="8229600" cy="3291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40080" y="1737360"/>
            <a:ext cx="73152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914400" y="17373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① Contract Master: Missing Data</a:t>
            </a:r>
            <a:r>
              <a:rPr b="1" lang="en-US" sz="800">
                <a:solidFill>
                  <a:srgbClr val="1E293B"/>
                </a:solidFill>
              </a:rPr>
              <a:t>（データの欠損）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14400" y="2103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Many contracts not registered in the 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Validity periods incorrectly set or missing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2743200"/>
            <a:ext cx="7315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914400" y="2743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② Vendor Master: Lack of Uniqueness</a:t>
            </a:r>
            <a:r>
              <a:rPr b="1" lang="en-US" sz="800">
                <a:solidFill>
                  <a:srgbClr val="1E293B"/>
                </a:solidFill>
              </a:rPr>
              <a:t>（一意性が担保されていない）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Same vendor registered multiple times with different names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New record created for each bank account registration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Manual matching required—automated reconciliation impossible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40080" y="3749040"/>
            <a:ext cx="73152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914400" y="3749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rPr>
              <a:t>③ Purchase Order Data: Many Transactions Without POs</a:t>
            </a:r>
            <a:r>
              <a:rPr b="1" lang="en-US" sz="800">
                <a:solidFill>
                  <a:srgbClr val="1E293B"/>
                </a:solidFill>
              </a:rPr>
              <a:t>（発注のない取引）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Invoice-based payments and auto-debit transactions not captured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• Approx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% of transactions by value have no purchase order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Arial"/>
              <a:buNone/>
            </a:pPr>
            <a:r>
              <a:rPr b="1" i="0" lang="en-US" sz="2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Issues of </a:t>
            </a:r>
            <a:r>
              <a:rPr b="1" lang="en-US" sz="2400">
                <a:solidFill>
                  <a:srgbClr val="1E2761"/>
                </a:solidFill>
              </a:rPr>
              <a:t>d</a:t>
            </a:r>
            <a:r>
              <a:rPr b="1" i="0" lang="en-US" sz="2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ata-governance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alibri"/>
              <a:buNone/>
            </a:pPr>
            <a:r>
              <a:rPr lang="en-U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they can be understood as structural problems caused by insufficiently established data governance for defining, monitoring, and maintaining data quality.</a:t>
            </a:r>
            <a:endParaRPr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45720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45720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64008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1. Completeness</a:t>
            </a:r>
            <a:r>
              <a:rPr b="1" lang="en-US" sz="800">
                <a:solidFill>
                  <a:srgbClr val="1E2761"/>
                </a:solidFill>
              </a:rPr>
              <a:t>（完全性）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Approx </a:t>
            </a: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33% of transactions missing from PO data; contracts not registered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Cannot capture full transaction picture or perform comprehensive spend analysis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846320" y="1274093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846320" y="1274093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029200" y="1365533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2. Validity</a:t>
            </a:r>
            <a:r>
              <a:rPr b="1" lang="en-US" sz="800">
                <a:solidFill>
                  <a:srgbClr val="1E2761"/>
                </a:solidFill>
              </a:rPr>
              <a:t>（妥当性）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0" y="1621565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Contract validity periods incorrect; data doesn't match business reality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2005613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Physical documents required for verification; data-driven control impossible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45720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45720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64008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3. Uniqueness</a:t>
            </a:r>
            <a:r>
              <a:rPr b="1" lang="en-US" sz="800">
                <a:solidFill>
                  <a:srgbClr val="1E2761"/>
                </a:solidFill>
              </a:rPr>
              <a:t>（一意性）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4008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Same vendor registered multiple times; no common identifier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4008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Vendor-level analysis impossible; manual matching required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4846320" y="2548186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4846320" y="2548186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5029200" y="2639626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4. Consistency</a:t>
            </a:r>
            <a:r>
              <a:rPr b="1" lang="en-US" sz="800">
                <a:solidFill>
                  <a:srgbClr val="1E2761"/>
                </a:solidFill>
              </a:rPr>
              <a:t>（一貫性）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029200" y="2895658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Vendor names differ across systems; relationships between data unclear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029200" y="3279706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Cross-system reconciliation difficult; significant validation effort needed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2514600" y="3806027"/>
            <a:ext cx="41148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2514600" y="3797902"/>
            <a:ext cx="73200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97480" y="3897467"/>
            <a:ext cx="3840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Arial"/>
                <a:ea typeface="Arial"/>
                <a:cs typeface="Arial"/>
                <a:sym typeface="Arial"/>
              </a:rPr>
              <a:t>5. Integrity</a:t>
            </a:r>
            <a:r>
              <a:rPr b="1" lang="en-US" sz="800">
                <a:solidFill>
                  <a:srgbClr val="1E2761"/>
                </a:solidFill>
              </a:rPr>
              <a:t>（整合性）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97480" y="4153499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Relationships between contracts, POs, payments not defined in data model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2697480" y="4537547"/>
            <a:ext cx="384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1" lang="en-US" sz="9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Impact: No transaction lifecycle traceability; governance and control risks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