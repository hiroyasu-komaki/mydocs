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8" r:id="rId7"/>
    <p:sldId id="256" r:id="rId5"/>
    <p:sldId id="257" r:id="rId6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Issues of vendor management preparing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hallenges in data reliability and completeness to initiate vendor management activities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737360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① Contract Master: Missing Data</a:t>
            </a:r>
            <a:r>
              <a:rPr b="1" lang="en-US" sz="800">
                <a:solidFill>
                  <a:srgbClr val="1E293B"/>
                </a:solidFill>
              </a:rPr>
              <a:t>（データの欠損）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Many contracts not registered in the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Validity periods incorrectly set or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743200"/>
            <a:ext cx="7315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② Vendor Master: Lack of Uniqueness</a:t>
            </a:r>
            <a:r>
              <a:rPr b="1" lang="en-US" sz="800">
                <a:solidFill>
                  <a:srgbClr val="1E293B"/>
                </a:solidFill>
              </a:rPr>
              <a:t>（一意性が担保されていない）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Same vendor registered multiple times with different names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New record created for each bank account 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Manual matching required—automated reconciliation impossible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3749040"/>
            <a:ext cx="7315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③ Purchase Order Data: Many Transactions Without POs</a:t>
            </a:r>
            <a:r>
              <a:rPr b="1" lang="en-US" sz="800">
                <a:solidFill>
                  <a:srgbClr val="1E293B"/>
                </a:solidFill>
              </a:rPr>
              <a:t>（発注のない取引）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Invoice-based payments and auto-debit transactions not captured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Approx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% of transactions by value have no purchase order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 xml:space="preserve">Issues of </a:t>
            </a:r>
            <a:r>
              <a:rPr b="1" lang="en-US" sz="2400">
                <a:solidFill>
                  <a:srgbClr val="1E2761"/>
                </a:solidFill>
              </a:rPr>
              <a:t>d</a:t>
            </a:r>
            <a:r>
              <a:rPr b="1" i="0" lang="en-US" sz="2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ata-governance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can be understood as structural problems caused by insufficiently established data governance for defining, monitoring, and maintaining data quality.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274093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274093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1365533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1. Completeness</a:t>
            </a:r>
            <a:r>
              <a:rPr b="1" lang="en-US" sz="800">
                <a:solidFill>
                  <a:srgbClr val="1E2761"/>
                </a:solidFill>
              </a:rPr>
              <a:t>（完全性）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162156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Approx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33% of transactions missing from PO data; contracts not registered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20056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Cannot capture full transaction picture or perform comprehensive spend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46320" y="1274093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846320" y="1274093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029200" y="1365533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2. Validity</a:t>
            </a:r>
            <a:r>
              <a:rPr b="1" lang="en-US" sz="800">
                <a:solidFill>
                  <a:srgbClr val="1E2761"/>
                </a:solidFill>
              </a:rPr>
              <a:t>（妥当性）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0" y="162156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Contract validity periods incorrect; data doesn't match business reality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20056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Physical documents required for verification; data-driven control impossible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548186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2548186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40080" y="2639626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3. Uniqueness</a:t>
            </a:r>
            <a:r>
              <a:rPr b="1" lang="en-US" sz="800">
                <a:solidFill>
                  <a:srgbClr val="1E2761"/>
                </a:solidFill>
              </a:rPr>
              <a:t>（一意性）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2895658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vendor registered multiple times; no common identifier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327970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Vendor-level analysis impossible; manual matching required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46320" y="2548186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46320" y="2548186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29200" y="2639626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4. Consistency</a:t>
            </a:r>
            <a:r>
              <a:rPr b="1" lang="en-US" sz="800">
                <a:solidFill>
                  <a:srgbClr val="1E2761"/>
                </a:solidFill>
              </a:rPr>
              <a:t>（一貫性）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029200" y="2895658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Vendor names differ across systems; relationships between data unclear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9200" y="327970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Cross-system reconciliation difficult; significant validation effort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514600" y="3806027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514600" y="3797902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97480" y="3897467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5. Integrity</a:t>
            </a:r>
            <a:r>
              <a:rPr b="1" lang="en-US" sz="800">
                <a:solidFill>
                  <a:srgbClr val="1E2761"/>
                </a:solidFill>
              </a:rPr>
              <a:t>（整合性）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97480" y="4153499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Relationships between contracts, POs, payments not defined in data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697480" y="4537547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No transaction lifecycle traceability; governance and control risks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274638" y="60960"/>
            <a:ext cx="70000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FFFFF"/>
                </a:solidFill>
                <a:latin typeface="Arial"/>
              </a:rPr>
              <a:t>Overall: Vendor Management Initiative</a:t>
            </a:r>
          </a:p>
        </p:txBody>
      </p:sp>
      <p:sp>
        <p:nvSpPr>
          <p:cNvPr id="4" name="KKLabel"/>
          <p:cNvSpPr/>
          <p:nvPr/>
        </p:nvSpPr>
        <p:spPr>
          <a:xfrm>
            <a:off x="7620000" y="60960"/>
            <a:ext cx="13701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</a:rPr>
              <a:t>Kyowa Kirin</a:t>
            </a:r>
          </a:p>
        </p:txBody>
      </p:sp>
      <p:sp>
        <p:nvSpPr>
          <p:cNvPr id="5" name="FrameworkLabel"/>
          <p:cNvSpPr/>
          <p:nvPr/>
        </p:nvSpPr>
        <p:spPr>
          <a:xfrm>
            <a:off x="274638" y="609600"/>
            <a:ext cx="85947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B6350"/>
                </a:solidFill>
                <a:latin typeface="Calibri"/>
              </a:rPr>
              <a:t>Vendor Optimization Framework — Cost Reduction / Efficiency Improvement / Risk Mitigation</a:t>
            </a:r>
          </a:p>
        </p:txBody>
      </p:sp>
      <p:sp>
        <p:nvSpPr>
          <p:cNvPr id="10" name="Col1HeaderBG"/>
          <p:cNvSpPr/>
          <p:nvPr/>
        </p:nvSpPr>
        <p:spPr>
          <a:xfrm>
            <a:off x="274638" y="876300"/>
            <a:ext cx="2560320" cy="365760"/>
          </a:xfrm>
          <a:prstGeom prst="rect">
            <a:avLst/>
          </a:prstGeom>
          <a:solidFill>
            <a:srgbClr val="C45E1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1" name="Col1Why"/>
          <p:cNvSpPr/>
          <p:nvPr/>
        </p:nvSpPr>
        <p:spPr>
          <a:xfrm>
            <a:off x="274638" y="8763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12" name="Col1Card"/>
          <p:cNvSpPr/>
          <p:nvPr/>
        </p:nvSpPr>
        <p:spPr>
          <a:xfrm>
            <a:off x="274638" y="1242060"/>
            <a:ext cx="2560320" cy="362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3" name="Col1SecTitle"/>
          <p:cNvSpPr/>
          <p:nvPr/>
        </p:nvSpPr>
        <p:spPr>
          <a:xfrm>
            <a:off x="365760" y="1295400"/>
            <a:ext cx="2378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47920"/>
                </a:solidFill>
                <a:latin typeface="Arial"/>
              </a:rPr>
              <a:t>Background &amp; Challenges</a:t>
            </a:r>
          </a:p>
        </p:txBody>
      </p:sp>
      <p:sp>
        <p:nvSpPr>
          <p:cNvPr id="14" name="Col1Body"/>
          <p:cNvSpPr/>
          <p:nvPr/>
        </p:nvSpPr>
        <p:spPr>
          <a:xfrm>
            <a:off x="365760" y="1630680"/>
            <a:ext cx="2378880" cy="31450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-US" sz="1100" u="none" strike="noStrike">
                <a:solidFill>
                  <a:srgbClr val="3D2B1F"/>
                </a:solidFill>
                <a:latin typeface="Calibri"/>
              </a:rPr>
              <a:t>ICTS department lacks proper management of vendor information — contract data, performance evaluations, and risk indicators.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D2B1F"/>
                </a:solidFill>
                <a:latin typeface="Calibri"/>
              </a:rPr>
              <a:t>As a result, it is difficult to understand the current situation and impossible to develop an effective vendor optimization strategy.</a:t>
            </a:r>
          </a:p>
        </p:txBody>
      </p:sp>
      <p:sp>
        <p:nvSpPr>
          <p:cNvPr id="19" name="Arrow1"/>
          <p:cNvSpPr/>
          <p:nvPr/>
        </p:nvSpPr>
        <p:spPr>
          <a:xfrm>
            <a:off x="2926638" y="2194560"/>
            <a:ext cx="228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0" name="Col2HeaderBG"/>
          <p:cNvSpPr/>
          <p:nvPr/>
        </p:nvSpPr>
        <p:spPr>
          <a:xfrm>
            <a:off x="3246558" y="876300"/>
            <a:ext cx="2743200" cy="3657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1" name="Col2What"/>
          <p:cNvSpPr/>
          <p:nvPr/>
        </p:nvSpPr>
        <p:spPr>
          <a:xfrm>
            <a:off x="3246558" y="8763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</a:rPr>
              <a:t>WHAT</a:t>
            </a:r>
          </a:p>
        </p:txBody>
      </p:sp>
      <p:sp>
        <p:nvSpPr>
          <p:cNvPr id="22" name="Col2CardTop"/>
          <p:cNvSpPr/>
          <p:nvPr/>
        </p:nvSpPr>
        <p:spPr>
          <a:xfrm>
            <a:off x="3246558" y="1242060"/>
            <a:ext cx="2743200" cy="170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3" name="Col2TopTitle"/>
          <p:cNvSpPr/>
          <p:nvPr/>
        </p:nvSpPr>
        <p:spPr>
          <a:xfrm>
            <a:off x="3337920" y="1295400"/>
            <a:ext cx="25603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47920"/>
                </a:solidFill>
                <a:latin typeface="Arial"/>
              </a:rPr>
              <a:t>Solution &amp; Maturity Model</a:t>
            </a:r>
          </a:p>
        </p:txBody>
      </p:sp>
      <p:sp>
        <p:nvSpPr>
          <p:cNvPr id="24" name="Col2TopBody"/>
          <p:cNvSpPr/>
          <p:nvPr/>
        </p:nvSpPr>
        <p:spPr>
          <a:xfrm>
            <a:off x="3337920" y="16002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Three-stage maturity model: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C45E10"/>
                </a:solidFill>
                <a:latin typeface="Calibri"/>
              </a:rPr>
              <a:t xml:space="preserve">Lv1 </a:t>
            </a: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Information Management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47920"/>
                </a:solidFill>
                <a:latin typeface="Calibri"/>
              </a:rPr>
              <a:t xml:space="preserve">Lv2 </a:t>
            </a: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Continuous Evaluation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AA050"/>
                </a:solidFill>
                <a:latin typeface="Calibri"/>
              </a:rPr>
              <a:t xml:space="preserve">Lv3 </a:t>
            </a: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Strategic Optimization</a:t>
            </a:r>
          </a:p>
        </p:txBody>
      </p:sp>
      <p:sp>
        <p:nvSpPr>
          <p:cNvPr id="25" name="Col2CardBot"/>
          <p:cNvSpPr/>
          <p:nvPr/>
        </p:nvSpPr>
        <p:spPr>
          <a:xfrm>
            <a:off x="3246558" y="3040560"/>
            <a:ext cx="2743200" cy="1827480"/>
          </a:xfrm>
          <a:prstGeom prst="rect">
            <a:avLst/>
          </a:prstGeom>
          <a:solidFill>
            <a:srgbClr val="FEF0E6"/>
          </a:solidFill>
          <a:ln w="127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6" name="Col2BotTitle"/>
          <p:cNvSpPr/>
          <p:nvPr/>
        </p:nvSpPr>
        <p:spPr>
          <a:xfrm>
            <a:off x="3337920" y="3093900"/>
            <a:ext cx="25603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C45E10"/>
                </a:solidFill>
                <a:latin typeface="Arial"/>
              </a:rPr>
              <a:t>Stakeholder Model (VMO)</a:t>
            </a:r>
          </a:p>
        </p:txBody>
      </p:sp>
      <p:sp>
        <p:nvSpPr>
          <p:cNvPr id="27" name="Col2BotBody"/>
          <p:cNvSpPr/>
          <p:nvPr/>
        </p:nvSpPr>
        <p:spPr>
          <a:xfrm>
            <a:off x="3337920" y="3398700"/>
            <a:ext cx="2560320" cy="13684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VMO as central hub coordinating: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Legal / Procurement / Finance / BUs / ICTS / Vendors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C45E10"/>
                </a:solidFill>
                <a:latin typeface="Calibri"/>
              </a:rPr>
              <a:t xml:space="preserve">Benefits: </a:t>
            </a:r>
            <a:r>
              <a:rPr b="0" lang="en-US" sz="1050" u="none" strike="noStrike">
                <a:solidFill>
                  <a:srgbClr val="3D2B1F"/>
                </a:solidFill>
                <a:latin typeface="Calibri"/>
              </a:rPr>
              <a:t>Spend visibility, stronger negotiation, risk reduction, no missed renewals</a:t>
            </a:r>
          </a:p>
        </p:txBody>
      </p:sp>
      <p:sp>
        <p:nvSpPr>
          <p:cNvPr id="29" name="Arrow2"/>
          <p:cNvSpPr/>
          <p:nvPr/>
        </p:nvSpPr>
        <p:spPr>
          <a:xfrm>
            <a:off x="6081318" y="2194560"/>
            <a:ext cx="228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0" name="Col3HeaderBG"/>
          <p:cNvSpPr/>
          <p:nvPr/>
        </p:nvSpPr>
        <p:spPr>
          <a:xfrm>
            <a:off x="6401478" y="876300"/>
            <a:ext cx="2469480" cy="365760"/>
          </a:xfrm>
          <a:prstGeom prst="rect">
            <a:avLst/>
          </a:prstGeom>
          <a:solidFill>
            <a:srgbClr val="C45E1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1" name="Col3How"/>
          <p:cNvSpPr/>
          <p:nvPr/>
        </p:nvSpPr>
        <p:spPr>
          <a:xfrm>
            <a:off x="6401478" y="876300"/>
            <a:ext cx="2469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32" name="Col3Card1"/>
          <p:cNvSpPr/>
          <p:nvPr/>
        </p:nvSpPr>
        <p:spPr>
          <a:xfrm>
            <a:off x="6401478" y="1242060"/>
            <a:ext cx="2469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3" name="Col3Title1"/>
          <p:cNvSpPr/>
          <p:nvPr/>
        </p:nvSpPr>
        <p:spPr>
          <a:xfrm>
            <a:off x="6492840" y="12954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47920"/>
                </a:solidFill>
                <a:latin typeface="Arial"/>
              </a:rPr>
              <a:t>Vendor Master Data</a:t>
            </a:r>
          </a:p>
        </p:txBody>
      </p:sp>
      <p:sp>
        <p:nvSpPr>
          <p:cNvPr id="34" name="Col3Body1"/>
          <p:cNvSpPr/>
          <p:nvPr/>
        </p:nvSpPr>
        <p:spPr>
          <a:xfrm>
            <a:off x="6492840" y="1539438"/>
            <a:ext cx="228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D2B1F"/>
                </a:solidFill>
                <a:latin typeface="Calibri"/>
              </a:rPr>
              <a:t>Merge &amp; deduplicate: P2 purchasing, Concur payments, and foreign remittance records</a:t>
            </a:r>
          </a:p>
        </p:txBody>
      </p:sp>
      <p:sp>
        <p:nvSpPr>
          <p:cNvPr id="35" name="Col3Card2"/>
          <p:cNvSpPr/>
          <p:nvPr/>
        </p:nvSpPr>
        <p:spPr>
          <a:xfrm>
            <a:off x="6401478" y="2400960"/>
            <a:ext cx="2469480" cy="1097280"/>
          </a:xfrm>
          <a:prstGeom prst="rect">
            <a:avLst/>
          </a:prstGeom>
          <a:solidFill>
            <a:srgbClr val="FEF0E6"/>
          </a:solidFill>
          <a:ln w="127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6" name="Col3Title2"/>
          <p:cNvSpPr/>
          <p:nvPr/>
        </p:nvSpPr>
        <p:spPr>
          <a:xfrm>
            <a:off x="6492840" y="24543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C45E10"/>
                </a:solidFill>
                <a:latin typeface="Arial"/>
              </a:rPr>
              <a:t>Contract Master Data</a:t>
            </a:r>
          </a:p>
        </p:txBody>
      </p:sp>
      <p:sp>
        <p:nvSpPr>
          <p:cNvPr id="37" name="Col3Body2"/>
          <p:cNvSpPr/>
          <p:nvPr/>
        </p:nvSpPr>
        <p:spPr>
          <a:xfrm>
            <a:off x="6492840" y="2698740"/>
            <a:ext cx="228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D2B1F"/>
                </a:solidFill>
                <a:latin typeface="Calibri"/>
              </a:rPr>
              <a:t>Unify contracts from management system and DocuSign into standardized list</a:t>
            </a:r>
          </a:p>
        </p:txBody>
      </p:sp>
      <p:sp>
        <p:nvSpPr>
          <p:cNvPr id="38" name="Col3Card3"/>
          <p:cNvSpPr/>
          <p:nvPr/>
        </p:nvSpPr>
        <p:spPr>
          <a:xfrm>
            <a:off x="6401478" y="3559860"/>
            <a:ext cx="2469480" cy="13078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9" name="Col3Title3"/>
          <p:cNvSpPr/>
          <p:nvPr/>
        </p:nvSpPr>
        <p:spPr>
          <a:xfrm>
            <a:off x="6492840" y="36132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</a:rPr>
              <a:t>2026 Annual Goals</a:t>
            </a:r>
          </a:p>
        </p:txBody>
      </p:sp>
      <p:sp>
        <p:nvSpPr>
          <p:cNvPr id="40" name="Col3Body3"/>
          <p:cNvSpPr/>
          <p:nvPr/>
        </p:nvSpPr>
        <p:spPr>
          <a:xfrm>
            <a:off x="6492840" y="3857040"/>
            <a:ext cx="228672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</a:rPr>
              <a:t xml:space="preserve">Phase 1 (by Mar 2026): </a:t>
            </a:r>
            <a:r>
              <a:rPr b="0" lang="en-US" sz="1000" u="none" strike="noStrike">
                <a:solidFill>
                  <a:srgbClr val="FFFFFF"/>
                </a:solidFill>
                <a:latin typeface="Calibri"/>
              </a:rPr>
              <a:t>Vendor/contract list, interviews, dashboards, quick wins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4"/>
        </a:solidFill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274638" y="60960"/>
            <a:ext cx="68000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 u="none" strike="noStrike">
                <a:solidFill>
                  <a:srgbClr val="FFFFFF"/>
                </a:solidFill>
                <a:latin typeface="Arial"/>
                <a:ea typeface="Meiryo UI"/>
              </a:rPr>
              <a:t>ロードマップ：2026年 Phase 1 マイルストーン</a:t>
            </a:r>
          </a:p>
        </p:txBody>
      </p:sp>
      <p:sp>
        <p:nvSpPr>
          <p:cNvPr id="4" name="KKLabel"/>
          <p:cNvSpPr/>
          <p:nvPr/>
        </p:nvSpPr>
        <p:spPr>
          <a:xfrm>
            <a:off x="7620000" y="60960"/>
            <a:ext cx="13701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</a:rPr>
              <a:t>Kyowa Kirin</a:t>
            </a:r>
          </a:p>
        </p:txBody>
      </p:sp>
      <p:sp>
        <p:nvSpPr>
          <p:cNvPr id="5" name="Deadline"/>
          <p:cNvSpPr/>
          <p:nvPr/>
        </p:nvSpPr>
        <p:spPr>
          <a:xfrm>
            <a:off x="274638" y="609600"/>
            <a:ext cx="40000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200" u="none" strike="noStrike">
                <a:solidFill>
                  <a:srgbClr val="8B6350"/>
                </a:solidFill>
                <a:latin typeface="Calibri"/>
                <a:ea typeface="Meiryo UI"/>
              </a:rPr>
              <a:t>目標達成期限：2026年3月</a:t>
            </a:r>
          </a:p>
        </p:txBody>
      </p:sp>
      <p:sp>
        <p:nvSpPr>
          <p:cNvPr id="6" name="TimelineLine"/>
          <p:cNvSpPr/>
          <p:nvPr/>
        </p:nvSpPr>
        <p:spPr>
          <a:xfrm>
            <a:off x="274638" y="2904960"/>
            <a:ext cx="8594724" cy="6096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0" name="Circle1"/>
          <p:cNvSpPr/>
          <p:nvPr/>
        </p:nvSpPr>
        <p:spPr>
          <a:xfrm>
            <a:off x="1227058" y="2813040"/>
            <a:ext cx="243840" cy="243840"/>
          </a:xfrm>
          <a:prstGeom prst="ellipse">
            <a:avLst/>
          </a:prstGeom>
          <a:solidFill>
            <a:srgbClr val="FFFFFF"/>
          </a:solidFill>
          <a:ln w="288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1" name="Conn1"/>
          <p:cNvSpPr/>
          <p:nvPr/>
        </p:nvSpPr>
        <p:spPr>
          <a:xfrm>
            <a:off x="1325878" y="2965920"/>
            <a:ext cx="45720" cy="9144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2" name="Card1BG"/>
          <p:cNvSpPr/>
          <p:nvPr/>
        </p:nvSpPr>
        <p:spPr>
          <a:xfrm>
            <a:off x="388858" y="3057360"/>
            <a:ext cx="1920240" cy="1872240"/>
          </a:xfrm>
          <a:prstGeom prst="rect">
            <a:avLst/>
          </a:prstGeom>
          <a:solidFill>
            <a:srgbClr val="FFFFFF"/>
          </a:solidFill>
          <a:ln w="2286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3" name="Card1Title"/>
          <p:cNvSpPr/>
          <p:nvPr/>
        </p:nvSpPr>
        <p:spPr>
          <a:xfrm>
            <a:off x="480298" y="311070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 u="none" strike="noStrike">
                <a:solidFill>
                  <a:srgbClr val="F47920"/>
                </a:solidFill>
                <a:latin typeface="Arial"/>
                <a:ea typeface="Meiryo UI"/>
              </a:rPr>
              <a:t>★ リストの完成</a:t>
            </a:r>
          </a:p>
        </p:txBody>
      </p:sp>
      <p:sp>
        <p:nvSpPr>
          <p:cNvPr id="14" name="Card1Sub"/>
          <p:cNvSpPr/>
          <p:nvPr/>
        </p:nvSpPr>
        <p:spPr>
          <a:xfrm>
            <a:off x="480298" y="341550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 u="none" strike="noStrike">
                <a:solidFill>
                  <a:srgbClr val="3D2B1F"/>
                </a:solidFill>
                <a:latin typeface="Calibri"/>
                <a:ea typeface="Meiryo UI"/>
              </a:rPr>
              <a:t>ベンダー契約リスト作成</a:t>
            </a:r>
          </a:p>
        </p:txBody>
      </p:sp>
      <p:sp>
        <p:nvSpPr>
          <p:cNvPr id="15" name="Card1Body"/>
          <p:cNvSpPr/>
          <p:nvPr/>
        </p:nvSpPr>
        <p:spPr>
          <a:xfrm>
            <a:off x="480298" y="365934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 u="none" strike="noStrike">
                <a:solidFill>
                  <a:srgbClr val="5C4033"/>
                </a:solidFill>
                <a:latin typeface="Calibri"/>
                <a:ea typeface="Meiryo UI"/>
              </a:rPr>
              <a:t>散在する情報を統合し、網羅的で正確なマスターリストを構築する最優先タスク。</a:t>
            </a:r>
          </a:p>
        </p:txBody>
      </p:sp>
      <p:sp>
        <p:nvSpPr>
          <p:cNvPr id="20" name="Circle2"/>
          <p:cNvSpPr/>
          <p:nvPr/>
        </p:nvSpPr>
        <p:spPr>
          <a:xfrm>
            <a:off x="3375739" y="2813040"/>
            <a:ext cx="243840" cy="243840"/>
          </a:xfrm>
          <a:prstGeom prst="ellipse">
            <a:avLst/>
          </a:prstGeom>
          <a:solidFill>
            <a:srgbClr val="FFFFFF"/>
          </a:solidFill>
          <a:ln w="288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1" name="Conn2"/>
          <p:cNvSpPr/>
          <p:nvPr/>
        </p:nvSpPr>
        <p:spPr>
          <a:xfrm>
            <a:off x="3474559" y="2744280"/>
            <a:ext cx="45720" cy="9144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2" name="Card2BG"/>
          <p:cNvSpPr/>
          <p:nvPr/>
        </p:nvSpPr>
        <p:spPr>
          <a:xfrm>
            <a:off x="2537539" y="914400"/>
            <a:ext cx="1920240" cy="1829880"/>
          </a:xfrm>
          <a:prstGeom prst="rect">
            <a:avLst/>
          </a:prstGeom>
          <a:solidFill>
            <a:srgbClr val="FFFFFF"/>
          </a:solidFill>
          <a:ln w="2286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3" name="Card2Title"/>
          <p:cNvSpPr/>
          <p:nvPr/>
        </p:nvSpPr>
        <p:spPr>
          <a:xfrm>
            <a:off x="2628979" y="96774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 u="none" strike="noStrike">
                <a:solidFill>
                  <a:srgbClr val="3D2B1F"/>
                </a:solidFill>
                <a:latin typeface="Arial"/>
                <a:ea typeface="Meiryo UI"/>
              </a:rPr>
              <a:t>現状報告・分析</a:t>
            </a:r>
          </a:p>
        </p:txBody>
      </p:sp>
      <p:sp>
        <p:nvSpPr>
          <p:cNvPr id="24" name="Card2Sub"/>
          <p:cNvSpPr/>
          <p:nvPr/>
        </p:nvSpPr>
        <p:spPr>
          <a:xfrm>
            <a:off x="2628979" y="127254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 u="none" strike="noStrike">
                <a:solidFill>
                  <a:srgbClr val="F47920"/>
                </a:solidFill>
                <a:latin typeface="Calibri"/>
                <a:ea typeface="Meiryo UI"/>
              </a:rPr>
              <a:t>インタビューの実施</a:t>
            </a:r>
          </a:p>
        </p:txBody>
      </p:sp>
      <p:sp>
        <p:nvSpPr>
          <p:cNvPr id="25" name="Card2Body"/>
          <p:cNvSpPr/>
          <p:nvPr/>
        </p:nvSpPr>
        <p:spPr>
          <a:xfrm>
            <a:off x="2628979" y="15163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 u="none" strike="noStrike">
                <a:solidFill>
                  <a:srgbClr val="5C4033"/>
                </a:solidFill>
                <a:latin typeface="Calibri"/>
                <a:ea typeface="Meiryo UI"/>
              </a:rPr>
              <a:t>リストに基づき、各担当者へのヒアリングを実施し、潜在的な課題と現状を文書化。</a:t>
            </a:r>
          </a:p>
        </p:txBody>
      </p:sp>
      <p:sp>
        <p:nvSpPr>
          <p:cNvPr id="30" name="Circle3"/>
          <p:cNvSpPr/>
          <p:nvPr/>
        </p:nvSpPr>
        <p:spPr>
          <a:xfrm>
            <a:off x="5524420" y="2813040"/>
            <a:ext cx="243840" cy="243840"/>
          </a:xfrm>
          <a:prstGeom prst="ellipse">
            <a:avLst/>
          </a:prstGeom>
          <a:solidFill>
            <a:srgbClr val="FFFFFF"/>
          </a:solidFill>
          <a:ln w="2880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1" name="Conn3"/>
          <p:cNvSpPr/>
          <p:nvPr/>
        </p:nvSpPr>
        <p:spPr>
          <a:xfrm>
            <a:off x="5623240" y="2965920"/>
            <a:ext cx="45720" cy="9144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2" name="Card3BG"/>
          <p:cNvSpPr/>
          <p:nvPr/>
        </p:nvSpPr>
        <p:spPr>
          <a:xfrm>
            <a:off x="4686220" y="3057360"/>
            <a:ext cx="1920240" cy="1872240"/>
          </a:xfrm>
          <a:prstGeom prst="rect">
            <a:avLst/>
          </a:prstGeom>
          <a:solidFill>
            <a:srgbClr val="FEF0E6"/>
          </a:solidFill>
          <a:ln w="22860">
            <a:solidFill>
              <a:srgbClr val="F4792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3" name="Card3Title"/>
          <p:cNvSpPr/>
          <p:nvPr/>
        </p:nvSpPr>
        <p:spPr>
          <a:xfrm>
            <a:off x="4777660" y="311070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 u="none" strike="noStrike">
                <a:solidFill>
                  <a:srgbClr val="C45E10"/>
                </a:solidFill>
                <a:latin typeface="Arial"/>
                <a:ea typeface="Meiryo UI"/>
              </a:rPr>
              <a:t>可視化基盤</a:t>
            </a:r>
          </a:p>
        </p:txBody>
      </p:sp>
      <p:sp>
        <p:nvSpPr>
          <p:cNvPr id="34" name="Card3Sub"/>
          <p:cNvSpPr/>
          <p:nvPr/>
        </p:nvSpPr>
        <p:spPr>
          <a:xfrm>
            <a:off x="4777660" y="341550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 u="none" strike="noStrike">
                <a:solidFill>
                  <a:srgbClr val="3D2B1F"/>
                </a:solidFill>
                <a:latin typeface="Calibri"/>
                <a:ea typeface="Meiryo UI"/>
              </a:rPr>
              <a:t>ダッシュボードの構築</a:t>
            </a:r>
          </a:p>
        </p:txBody>
      </p:sp>
      <p:sp>
        <p:nvSpPr>
          <p:cNvPr id="35" name="Card3Body"/>
          <p:cNvSpPr/>
          <p:nvPr/>
        </p:nvSpPr>
        <p:spPr>
          <a:xfrm>
            <a:off x="4777660" y="365934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 u="none" strike="noStrike">
                <a:solidFill>
                  <a:srgbClr val="5C4033"/>
                </a:solidFill>
                <a:latin typeface="Calibri"/>
                <a:ea typeface="Meiryo UI"/>
              </a:rPr>
              <a:t>標準化されたデータを基に、支出状況や契約ステータスをリアルタイムで可視化。</a:t>
            </a:r>
          </a:p>
        </p:txBody>
      </p:sp>
      <p:sp>
        <p:nvSpPr>
          <p:cNvPr id="40" name="Circle4"/>
          <p:cNvSpPr/>
          <p:nvPr/>
        </p:nvSpPr>
        <p:spPr>
          <a:xfrm>
            <a:off x="7673101" y="2813040"/>
            <a:ext cx="243840" cy="243840"/>
          </a:xfrm>
          <a:prstGeom prst="ellipse">
            <a:avLst/>
          </a:prstGeom>
          <a:solidFill>
            <a:srgbClr val="F47920"/>
          </a:solidFill>
          <a:ln w="28800">
            <a:solidFill>
              <a:srgbClr val="C45E10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41" name="Conn4"/>
          <p:cNvSpPr/>
          <p:nvPr/>
        </p:nvSpPr>
        <p:spPr>
          <a:xfrm>
            <a:off x="7771921" y="2744280"/>
            <a:ext cx="45720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42" name="Card4BG"/>
          <p:cNvSpPr/>
          <p:nvPr/>
        </p:nvSpPr>
        <p:spPr>
          <a:xfrm>
            <a:off x="6834901" y="914400"/>
            <a:ext cx="1920240" cy="18298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43" name="Card4Title"/>
          <p:cNvSpPr/>
          <p:nvPr/>
        </p:nvSpPr>
        <p:spPr>
          <a:xfrm>
            <a:off x="6926341" y="96774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 u="none" strike="noStrike">
                <a:solidFill>
                  <a:srgbClr val="FFFFFF"/>
                </a:solidFill>
                <a:latin typeface="Arial"/>
                <a:ea typeface="Meiryo UI"/>
              </a:rPr>
              <a:t>早期の成果</a:t>
            </a:r>
          </a:p>
        </p:txBody>
      </p:sp>
      <p:sp>
        <p:nvSpPr>
          <p:cNvPr id="44" name="Card4Sub"/>
          <p:cNvSpPr/>
          <p:nvPr/>
        </p:nvSpPr>
        <p:spPr>
          <a:xfrm>
            <a:off x="6926341" y="127254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 u="none" strike="noStrike">
                <a:solidFill>
                  <a:srgbClr val="FFE8CC"/>
                </a:solidFill>
                <a:latin typeface="Calibri"/>
                <a:ea typeface="Meiryo UI"/>
              </a:rPr>
              <a:t>クイックウィンの実行</a:t>
            </a:r>
          </a:p>
        </p:txBody>
      </p:sp>
      <p:sp>
        <p:nvSpPr>
          <p:cNvPr id="45" name="Card4Body"/>
          <p:cNvSpPr/>
          <p:nvPr/>
        </p:nvSpPr>
        <p:spPr>
          <a:xfrm>
            <a:off x="6926341" y="15163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45700" bIns="4570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 u="none" strike="noStrike">
                <a:solidFill>
                  <a:srgbClr val="FFFFFF"/>
                </a:solidFill>
                <a:latin typeface="Calibri"/>
                <a:ea typeface="Meiryo UI"/>
              </a:rPr>
              <a:t>不要な契約の棚卸しや、契約更新期日の自動アラート設定などを即座に実行。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