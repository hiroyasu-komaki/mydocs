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062EBF-0AE2-45E6-BAED-0A986A695756}">
  <a:tblStyle styleId="{C6062EBF-0AE2-45E6-BAED-0A986A69575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1933456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1933456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1933456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19334566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d19334566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d19334566c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19334566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d19334566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19334566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19334566c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d19334566c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19334566c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19334566c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d19334566c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19334566c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19334566c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d19334566c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d19334566c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19334566c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d19334566c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19334566c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19334566c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d19334566c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d19334566c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19334566c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d19334566c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d19334566c_0_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19334566c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d19334566c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d19334566c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19334566c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d19334566c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d19334566c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d19334566c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d19334566c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d19334566c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19334566c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g3d19334566c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d19334566c_0_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19334566c_0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d19334566c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d19334566c_0_3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Governance Team｜2026年度 実行計画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S&amp;Gリーダーへの報告・相談資料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1554480"/>
            <a:ext cx="54864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22960" y="15544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核心メッセージ：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データ基盤がほぼゼロの状態から、完成を待たずに価値を出す構造に切り替える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651760"/>
            <a:ext cx="3840480" cy="1828800"/>
          </a:xfrm>
          <a:prstGeom prst="rect">
            <a:avLst/>
          </a:prstGeom>
          <a:solidFill>
            <a:srgbClr val="1A2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77240" y="2697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本資料の目的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" y="310896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目標1（VMO基盤整備）の実行アプローチについて、現場の実態とリスクを共有し、リーダーのご判断・ご支援をいただきたい事項を明確にする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754880" y="2651760"/>
            <a:ext cx="3840480" cy="1828800"/>
          </a:xfrm>
          <a:prstGeom prst="rect">
            <a:avLst/>
          </a:prstGeom>
          <a:solidFill>
            <a:srgbClr val="1A2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983480" y="2697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ご判断をいただきたい事項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983480" y="306324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① 10M目標の位置づけ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② ベンダーマスター初版の達成基準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③ 社員BのPIP/HR連携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④ ITコンサル予算の事前承認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⑤ 移管の判断権限と対象範囲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⑥ ルートBの委任状取得支援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チーム体制と前提条件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以降の計画はすべてこのチーム体制が前提です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" name="Google Shape;35;p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{C6062EBF-0AE2-45E6-BAED-0A986A695756}</a:tableStyleId>
              </a:tblPr>
              <a:tblGrid>
                <a:gridCol w="1645925"/>
                <a:gridCol w="2194550"/>
                <a:gridCol w="1371600"/>
                <a:gridCol w="28346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メンバー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役割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状況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備考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マネジャー（私）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全体統括・文書管理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稼働中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社員A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人材開発担当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稼働中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自律稼働可能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社員B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ベンダーマネジメント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見極め中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4〜6月で判断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新入社員C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調達プロフェッショナル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5月入社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定着リスクあり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派遣社員D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支払い・財務連携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稼働中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 BPとの協業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" name="Google Shape;36;p4"/>
          <p:cNvSpPr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361188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234440" y="36393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主要リスク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397764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社員B：</a:t>
            </a: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パフォーマンスが改善しない場合、データ基盤構築の人員が不在になる可能性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新入社員C：</a:t>
            </a: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5月入社。適応期間1〜2ヶ月を見込む。定着リスクあり。VMO目標の大半がこのメンバーに依存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目標1（VMO基盤整備）：現状認識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1097280"/>
            <a:ext cx="37947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548640" y="1097280"/>
            <a:ext cx="54864" cy="1463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77240" y="11430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Georgia"/>
                <a:ea typeface="Georgia"/>
                <a:cs typeface="Georgia"/>
                <a:sym typeface="Georgia"/>
              </a:rPr>
              <a:t>当初の想定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77240" y="14630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既存のマスターデータを整備・補完する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800600" y="1097280"/>
            <a:ext cx="37947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800600" y="1097280"/>
            <a:ext cx="54864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実態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0" y="14630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ベンダーマスター：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未登録・重複多数。補完的にしか使えない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契約マスター：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大半が未登録。事実上ゼロから構築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0" y="16002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77240" y="283464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結論：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支出データを唯一の信頼できる起点とし、すべてを積み上げる構造に転換する。「初版」と「完成版」の間には年単位の距離があることをリーダーと明示的に合意する必要がある。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データ構築の流れ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4114800"/>
            <a:ext cx="14173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41148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支出データ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965960" y="411480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167128" y="4114800"/>
            <a:ext cx="1417320" cy="50292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167128" y="41148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ICTベンダー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抽出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584448" y="411480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785616" y="4114800"/>
            <a:ext cx="1417320" cy="50292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785616" y="41148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既存マスター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で補完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02936" y="411480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04104" y="4114800"/>
            <a:ext cx="1417320" cy="50292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404104" y="41148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直接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ベンダー調査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821424" y="4114800"/>
            <a:ext cx="2011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022592" y="4114800"/>
            <a:ext cx="14173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022592" y="41148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マスター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初版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アプローチの転換：二軸並行構造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「データが揃ってから動く」のではなく「動きながらデータを揃える」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1280160"/>
            <a:ext cx="3794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48640" y="1280160"/>
            <a:ext cx="54864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軸①：データ基盤の構築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77240" y="1920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段階的・継続的に精度を上げていく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77240" y="2331720"/>
            <a:ext cx="10058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777240" y="2331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6月末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920240" y="23317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ベンダーマスター初版（支出上位カバレッジ）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77240" y="2971800"/>
            <a:ext cx="10058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77240" y="2971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9月末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920240" y="29718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第二版 + 契約マスター初版（主要ベンダー分）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7240" y="3611880"/>
            <a:ext cx="10058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77240" y="36118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年度末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920240" y="36118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継続的更新体制の確立（完成版ではない）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800600" y="1280160"/>
            <a:ext cx="3794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800600" y="1280160"/>
            <a:ext cx="54864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892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5623560" y="1371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軸②：価値創出（並行稼働）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0" y="1920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基盤整備の完了を待たず、今あるデータで成果を出す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029200" y="2331720"/>
            <a:ext cx="1005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029200" y="2331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172200" y="23317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コスト削減プラン策定（マネジャー＋社員B）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0" y="2971800"/>
            <a:ext cx="1005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029200" y="2971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5月〜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172200" y="29718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社員C入社 → 即実行開始（段階的移管）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029200" y="3611880"/>
            <a:ext cx="1005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029200" y="36118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9月〜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172200" y="36118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作業中の第二版マスターで来期戦略策定に着手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コスト削減10M：逆算パイプライン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100584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設計思想：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すべての施策が計画通りに実現するわけではない → パイプラインに15〜20Mを積み上げ、10Mの着地を確実にする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1874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4月の作業ステップ（マネジャー＋社員B）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2331720"/>
            <a:ext cx="182880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27889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候補抽出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31546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支出規模、更新時期、分散状況、利用実態の乖離、長期未見直し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560320" y="2331720"/>
            <a:ext cx="182880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560320" y="2331720"/>
            <a:ext cx="1828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56032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651760" y="27889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金額見積もり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651760" y="31546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削減手法別に概算（再交渉・集約・解約・代替調達）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0" y="2331720"/>
            <a:ext cx="182880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663440" y="27889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優先順位付け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63440" y="31546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実現可能性×金額インパクトで評価。高+中で15〜20M確保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583680" y="2331720"/>
            <a:ext cx="182880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583680" y="2331720"/>
            <a:ext cx="1828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58368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675120" y="27889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ロードマップ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675120" y="315468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社員Cが5月から着手できるようタスクを文書化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44348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5月〜：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97280" y="443484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社員Cに優先度「高」の施策から割り当て → 6月：自律 → 7月〜：全施策リード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コスト削減：4つの手法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候補ベンダー・契約ごとに、最適な削減手法を選択し金額を見積もる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097280"/>
            <a:ext cx="37947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48640" y="1097280"/>
            <a:ext cx="54864" cy="1691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31520" y="11430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再交渉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468880" y="1170432"/>
            <a:ext cx="86868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468880" y="117043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影響 中〜大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429000" y="1170432"/>
            <a:ext cx="777240" cy="256032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429000" y="11704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難易度 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既存契約の価格・条件を見直し、ベンダーと交渉する。長期未見直し契約や市場価格との乖離が大きい契約が主な対象。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31520" y="21488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アプローチ：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市場価格の調査、競合見積もりの取得、契約更新タイミングに合わせた交渉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00600" y="1097280"/>
            <a:ext cx="37947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800600" y="1097280"/>
            <a:ext cx="54864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983480" y="11430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集約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720840" y="1170432"/>
            <a:ext cx="86868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720840" y="117043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影響 中〜大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680960" y="1170432"/>
            <a:ext cx="777240" cy="256032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680960" y="11704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難易度 中〜高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983480" y="150876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複数ベンダーに分散している同種サービスを統合し、ボリュームディスカウントやサービス管理の効率化を図る。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983480" y="21488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アプローチ：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同種サービスの棚卸し、統合先候補の選定、移行計画の策定と実行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48640" y="3017520"/>
            <a:ext cx="37947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48640" y="3017520"/>
            <a:ext cx="54864" cy="1691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3152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BC9C"/>
                </a:solidFill>
                <a:latin typeface="Georgia"/>
                <a:ea typeface="Georgia"/>
                <a:cs typeface="Georgia"/>
                <a:sym typeface="Georgia"/>
              </a:rPr>
              <a:t>解約・縮小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468880" y="3090672"/>
            <a:ext cx="86868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468880" y="309067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影響 小〜中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429000" y="3090672"/>
            <a:ext cx="777240" cy="25603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429000" y="309067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難易度 低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342900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利用率が低いサービスや重複契約を特定し、解約または契約規模を縮小する。未使用ライセンスの削減も含む。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31520" y="40690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アプローチ：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利用実態の調査、余剰ライセンスの特定、解約条件・違約金の確認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800600" y="3017520"/>
            <a:ext cx="37947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800600" y="3017520"/>
            <a:ext cx="54864" cy="169164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983480" y="30632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5B2C6F"/>
                </a:solidFill>
                <a:latin typeface="Georgia"/>
                <a:ea typeface="Georgia"/>
                <a:cs typeface="Georgia"/>
                <a:sym typeface="Georgia"/>
              </a:rPr>
              <a:t>代替調達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720840" y="3090672"/>
            <a:ext cx="86868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720840" y="309067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影響 大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680960" y="3090672"/>
            <a:ext cx="777240" cy="256032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680960" y="309067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難易度 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983480" y="342900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現行の高コスト契約に対し、同等機能をより低コストで提供できる代替手段（別ベンダー、OSS等）に切り替える。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983480" y="40690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アプローチ：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代替オプションの調査・PoC、移行コストとリスクの評価、切替計画の策定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コスト削減の実行難易度：段階的フィルター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契約・予算の所在によって、実現可能性と必要な手間が大きく変わる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1143000"/>
            <a:ext cx="4572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48640" y="1143000"/>
            <a:ext cx="457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43000" y="1143000"/>
            <a:ext cx="7452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1143000" y="114300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37160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ICT契約・ICT予算（日本）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943600" y="11887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◎ 実現可能性：最も高い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371600" y="150876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ICTが契約主体かつ予算も国内。意思決定が最もシンプルで、交渉のリードタイムが短い。移管不要。コスト削減パイプラインの中核に据える対象。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2423160"/>
            <a:ext cx="4572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48640" y="2423160"/>
            <a:ext cx="457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143000" y="2423160"/>
            <a:ext cx="74523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143000" y="2423160"/>
            <a:ext cx="54864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1371600" y="2468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ICT契約・ICT予算（海外管理）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943600" y="2468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○ 実現可能性：高め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371600" y="278892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ICT部門内であるため強制力を効かせられる。コミュニケーションコスト（タイムゾーン・言語）はあるが、移管は不要。次点の優先対象。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77240" y="37033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ここまでは移管不要 → 実現可能性が高い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4297680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48640" y="42976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43000" y="4297680"/>
            <a:ext cx="7452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ビジネス部門に契約・予算がある場合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→ 移管の可否と事前合意の有無で難易度が分岐（次スライドで詳細）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ビジネス部門案件の実行難易度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ビジネス部門に契約・予算がある場合、移管の形態によって実行難易度が3段階に分かれる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10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{C6062EBF-0AE2-45E6-BAED-0A986A695756}</a:tableStyleId>
              </a:tblPr>
              <a:tblGrid>
                <a:gridCol w="1371600"/>
                <a:gridCol w="2222000"/>
                <a:gridCol w="2222000"/>
                <a:gridCol w="2231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事前移管可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移管の事前合意可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移管の事前合意不可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392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ビジネス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部門案件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移管完了後にICT主導で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交渉（ルートA）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△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都度の情報共有・承認が必要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手間と時間がかかる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✕  対象外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BD8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10"/>
          <p:cNvSpPr/>
          <p:nvPr/>
        </p:nvSpPr>
        <p:spPr>
          <a:xfrm>
            <a:off x="548640" y="2743200"/>
            <a:ext cx="24688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48640" y="2743200"/>
            <a:ext cx="54864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77240" y="2788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○ 事前移管可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77240" y="3127248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契約・予算をICTへ移管した上で交渉に臨む（ルートA）。移管完了後はICT契約と同等の扱いになり、スピードが出やすい。移管の所要時間をFinance Partnerと早期に確認する必要がある。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337560" y="2743200"/>
            <a:ext cx="24688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337560" y="2743200"/>
            <a:ext cx="54864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566160" y="2788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△ 移管の事前合意可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566160" y="3127248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移管の合意はあるが事前に完了しない。委任状付き交渉（ルートB）となり、交渉結果について既存の契約当事者の承認を都度必要とする。手間と時間が大幅に増加。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126480" y="2743200"/>
            <a:ext cx="246888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126480" y="2743200"/>
            <a:ext cx="54864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355080" y="2788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✕ 移管の事前合意不可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355080" y="3127248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移管について事前の合意が得られない場合、ICTが交渉当事者になれないため対象外とする。今期はスコープから除外し、関係構築に留める。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777240" y="434340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判断のポイント：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4月中にFinance Partnerと候補案件を棚卸しし、各案件がどの列に該当するかを仕分けた上でリーダーに報告する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交渉プロセス：ルートA / ルートB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48640" y="822960"/>
            <a:ext cx="804672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77240" y="8229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前提原則：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ベンダーから見てICTが契約当事者でなければ交渉に臨めない → 契約・予算の移管が交渉の前提条件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フェーズ0｜事前資格確認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48640" y="1874520"/>
            <a:ext cx="256032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548640" y="1874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契約・予算をICTへ移管できるか？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154680" y="1874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YES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703320" y="1874520"/>
            <a:ext cx="11887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703320" y="187452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ルートA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8640" y="2331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2651760"/>
            <a:ext cx="256032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548640" y="26517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委任状を取得できるか？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154680" y="265176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YES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703320" y="2651760"/>
            <a:ext cx="1188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3703320" y="26517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ルートB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154680" y="310896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703320" y="3063240"/>
            <a:ext cx="11887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703320" y="30632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今期対象外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303520" y="1508760"/>
            <a:ext cx="32918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303520" y="1508760"/>
            <a:ext cx="54864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ルートA（標準）：移管後に交渉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486400" y="192024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移管完了 → 交渉準備 → 交渉 → 合意・実行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ICTに全権限があるためスピードが出やすい。今期着地の確度が高い。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303520" y="3063240"/>
            <a:ext cx="32918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5303520" y="3063240"/>
            <a:ext cx="54864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486400" y="31089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ルートB（例外）：委任状付き交渉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0" y="347472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委任状取得 → 交渉 → 結果を持ち帰り承認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承認プロセスがボトルネック。相手組織の意思決定スピードに左右され、今期着地確度が大幅に低下。リーダーのトップダウン支援が必要な場面あり。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目標2〜6：対応方針の概要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548640" y="1005840"/>
            <a:ext cx="54864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777240" y="1097280"/>
            <a:ext cx="8229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77240" y="10972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737360" y="1051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ICT人材フレームワーク構築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572000" y="10515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社員Aリード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737360" y="1344168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8月末：フレームワーク策定 → 10月末：サーベイ・ギャップ分析 → 年度末：育成プログラム再始動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48640" y="1755648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548640" y="1755648"/>
            <a:ext cx="54864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777240" y="1847088"/>
            <a:ext cx="82296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77240" y="184708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737360" y="18013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集中支払い管理・予算予測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572000" y="180136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派遣社員D + Finance BP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737360" y="2093976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月次で継続（定常業務）。FY2026計画比±5%以内の着地を目指す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48640" y="2505456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548640" y="2505456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777240" y="2596896"/>
            <a:ext cx="8229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777240" y="259689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737360" y="255117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S&amp;G管理業務の最適化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0" y="25511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マネジャー + 各メンバー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737360" y="2843784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6月：候補特定 → 四半期に1件ペース → 年度末：3件以上の改善を実施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48640" y="3255264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48640" y="3255264"/>
            <a:ext cx="54864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777240" y="3346704"/>
            <a:ext cx="82296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777240" y="334670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737360" y="33009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2027年度年次計画策定支援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0" y="33009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Finance BPと連動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737360" y="3593592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計画スケジュールに沿って詳細を策定。Finance BPと連携して推進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48640" y="4005072"/>
            <a:ext cx="80467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548640" y="4005072"/>
            <a:ext cx="54864" cy="6583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777240" y="4096512"/>
            <a:ext cx="82296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77240" y="409651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目標6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737360" y="40507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文書管理プロセス改善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572000" y="405079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マネジャーが直接対応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737360" y="4343400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4月：内部監査チームと打合せ → 対応方針確定 → 随時対応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全体タイムライン（年間俯瞰）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01168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201168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274320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274320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347472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347472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20624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20624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93776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93776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566928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566928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40080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40080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713232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713232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863840" y="914400"/>
            <a:ext cx="7315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7863840" y="914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7432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データ基盤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（軸①）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029968" y="1417320"/>
            <a:ext cx="1426464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029968" y="1417320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支出分析・ベンダー抽出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493008" y="1417320"/>
            <a:ext cx="2157984" cy="41148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3493008" y="1417320"/>
            <a:ext cx="2157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直接調査・第二版作成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687568" y="1417320"/>
            <a:ext cx="2157984" cy="4114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5687568" y="1417320"/>
            <a:ext cx="2157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更新体制確立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274320" y="20116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コスト削減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（軸②）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029968" y="2057400"/>
            <a:ext cx="69494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2029968" y="2057400"/>
            <a:ext cx="694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プラン策定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2761488" y="2057400"/>
            <a:ext cx="2889504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761488" y="2057400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施策実行（社員Cリード）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687568" y="2057400"/>
            <a:ext cx="2157984" cy="4114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5687568" y="2057400"/>
            <a:ext cx="2157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成果確定・報告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274320" y="26517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社員B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見極め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2029968" y="2697480"/>
            <a:ext cx="1426464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2029968" y="2697480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PIP見極め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3493008" y="2697480"/>
            <a:ext cx="694944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493008" y="2697480"/>
            <a:ext cx="694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判断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74320" y="3291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ITコンサル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（シナリオB）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224528" y="3337560"/>
            <a:ext cx="1426464" cy="41148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4224528" y="3337560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業務委託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687568" y="3337560"/>
            <a:ext cx="2157984" cy="41148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5687568" y="3337560"/>
            <a:ext cx="2157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手順整備→派遣引継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274320" y="393192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人材FW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（目標2）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2029968" y="3977640"/>
            <a:ext cx="2889504" cy="4114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2029968" y="3977640"/>
            <a:ext cx="28895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FW策定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956048" y="3977640"/>
            <a:ext cx="1426464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4956048" y="3977640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サーベイ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419088" y="3977640"/>
            <a:ext cx="1426464" cy="41148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419088" y="3977640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育成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548640" y="443484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★ リーダー判断が必要なタイミング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2011680" y="4434840"/>
            <a:ext cx="731520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3474720" y="4434840"/>
            <a:ext cx="731520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5669280" y="4434840"/>
            <a:ext cx="731520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人員計画：社員Bのシナリオ分岐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48640" y="1051560"/>
            <a:ext cx="37947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48640" y="1051560"/>
            <a:ext cx="54864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シナリオA：社員Bが改善した場合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777240" y="14630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当初計画に近い形で進行。社員Bがデータ基盤構築を継続。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800600" y="1051560"/>
            <a:ext cx="37947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4800600" y="1051560"/>
            <a:ext cx="54864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シナリオB：PIP対象（現時点の想定）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029200" y="14630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社員Bの業務終了後、外部リソースで対応する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シナリオB｜移行プロセス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548640" y="288036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4〜6月：社員B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40080" y="32461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見極め期間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並行してITコンサル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要件定義・候補選定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2926080" y="2880360"/>
            <a:ext cx="320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246120" y="288036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3246120" y="288036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3246120" y="2880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7〜9月：ITコンサル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3337560" y="32461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データ基盤構築を主導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業務手順を文書化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（半年契約・業務委託）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623560" y="2880360"/>
            <a:ext cx="320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943600" y="2880360"/>
            <a:ext cx="23774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943600" y="2880360"/>
            <a:ext cx="237744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5943600" y="2880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10月〜：派遣社員（新規）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035040" y="32461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手順に沿った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継続的維持管理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属人化を排除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777240" y="42976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設計意図：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社員Cを戦略的業務（1b〜1e）に集中させる。データ構築の泥臭い作業にはコンサル→派遣で対応し、持続可能な運用体制を構築する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リーダーへのご確認・ご判断依頼事項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以下6点について、ご判断またはご支援をお願いいたします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48640" y="1280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548640" y="1280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685800" y="1325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10Mの位置づけ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731520" y="1664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金額厳守か、今期中の成果創出が優先か。パイプラインの構成と対象範囲が変わるため、4月中に合意したい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754880" y="1280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4754880" y="1280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4892040" y="1325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21208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ベンダーマスター初版の達成基準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4937760" y="1664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6月末の「初版」はカバレッジと精度を明示した提出になる。「完成版」ではないことを事前に定義として合意したい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48640" y="2423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548640" y="2423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685800" y="2468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005840" y="2468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社員BのPIP移行に関するHR連携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731520" y="2807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4〜6月の見極め後、PIPに移行する場合のHRとのプロセスについて、適切なタイミングで連携をお願いしたい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754880" y="2423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4754880" y="2423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4892040" y="2468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5212080" y="2468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ITコンサル予算の事前承認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937760" y="2807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シナリオBに備え、半年間の業務委託費用の確保と承認プロセスを4月中に動かしておきたい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548640" y="3566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685800" y="3611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1005840" y="3611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移管の判断権限と対象範囲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731520" y="3950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どの契約・予算が移管対象となり得るかをFinance Partnerと棚卸しし、リーダーに最終判断をいただく想定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754880" y="3566160"/>
            <a:ext cx="3840480" cy="100584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4892040" y="36118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5212080" y="3611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ルートBの委任状取得支援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937760" y="395020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ビジネス部門や海外ICTからの委任状取得にあたり、必要に応じてリーダーからの働きかけをお願いしたい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548640" y="365760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Governance Team | FY2026 Execution Plan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548640" y="96012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Briefing for S&amp;G Leadership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48640" y="1554480"/>
            <a:ext cx="8046600" cy="822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548640" y="1554480"/>
            <a:ext cx="54900" cy="822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822960" y="1554480"/>
            <a:ext cx="7589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Key Message: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Starting from near-zero data foundations, we will shift to a structure that delivers value without waiting for completion.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548640" y="2651760"/>
            <a:ext cx="3840600" cy="1828800"/>
          </a:xfrm>
          <a:prstGeom prst="rect">
            <a:avLst/>
          </a:prstGeom>
          <a:solidFill>
            <a:srgbClr val="1A2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777240" y="269748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Purpose of This Document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777240" y="3108960"/>
            <a:ext cx="3383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 share the on-the-ground realities and risks of our Goal 1 (VMO foundation) execution approach, and to clearly identify items requiring leadership decision and support.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754880" y="2651760"/>
            <a:ext cx="3840600" cy="1828800"/>
          </a:xfrm>
          <a:prstGeom prst="rect">
            <a:avLst/>
          </a:prstGeom>
          <a:solidFill>
            <a:srgbClr val="1A2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4983480" y="2697480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Decisions Requested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4983480" y="3063240"/>
            <a:ext cx="338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① 10M target positioning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② Vendor master first edition criteria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③ Employee B PIP / HR coordination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④ IT consultant budget pre-approval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⑤ Transfer authority and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⑥ Route B mandate acquisition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Team Structure &amp; Assumptions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548640" y="77724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subsequent plans are based on this team composition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0" name="Google Shape;460;p18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{C6062EBF-0AE2-45E6-BAED-0A986A695756}</a:tableStyleId>
              </a:tblPr>
              <a:tblGrid>
                <a:gridCol w="1645925"/>
                <a:gridCol w="2194550"/>
                <a:gridCol w="1371600"/>
                <a:gridCol w="28346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 (myself)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oversight, documentation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 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Talent development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Self-directed, reliable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 B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 management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review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by Apr–Jun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Hire 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Procurement professional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Joining May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7E22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 risk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 Staff 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Payments &amp; finance liaison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with Finance BP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1" name="Google Shape;461;p18"/>
          <p:cNvSpPr/>
          <p:nvPr/>
        </p:nvSpPr>
        <p:spPr>
          <a:xfrm>
            <a:off x="548640" y="3611880"/>
            <a:ext cx="8046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548640" y="3611880"/>
            <a:ext cx="549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8"/>
          <p:cNvSpPr/>
          <p:nvPr/>
        </p:nvSpPr>
        <p:spPr>
          <a:xfrm>
            <a:off x="1234440" y="363931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Key Risks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234440" y="3977640"/>
            <a:ext cx="7132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Employee B: </a:t>
            </a: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If performance does not improve, Data foundation work may lose its assigned resource.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Hire C: </a:t>
            </a: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Joining May. 1–2 month ramp-up expected. Retention risk. Most VMO goals depend on this member.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Goal 1 (VMO Foundation): Current State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48640" y="1097280"/>
            <a:ext cx="37947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548640" y="1097280"/>
            <a:ext cx="54900" cy="1463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777240" y="114300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Georgia"/>
                <a:ea typeface="Georgia"/>
                <a:cs typeface="Georgia"/>
                <a:sym typeface="Georgia"/>
              </a:rPr>
              <a:t>Initial Assumption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777240" y="1463040"/>
            <a:ext cx="338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Existing master data can be cleaned up and supplemented.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800600" y="1097280"/>
            <a:ext cx="37947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4800600" y="1097280"/>
            <a:ext cx="54900" cy="1463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5029200" y="114300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Reality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029200" y="1463040"/>
            <a:ext cx="338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Vendor Master: 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Many unregistered and duplicate entries. Only usable as a reference.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Contract Master: 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Most contracts unregistered. Effectively building from scratch.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0" y="16002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9"/>
          <p:cNvSpPr/>
          <p:nvPr/>
        </p:nvSpPr>
        <p:spPr>
          <a:xfrm>
            <a:off x="548640" y="2834640"/>
            <a:ext cx="8046600" cy="82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777240" y="2834640"/>
            <a:ext cx="7589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Conclusion: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data is the only reliable starting point. We must build everything from there. The gap between "first edition" and "complete" spans years — this must be explicitly agreed upon with leadership.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548640" y="379476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Data Construction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548640" y="4114800"/>
            <a:ext cx="1417200" cy="502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548640" y="4114800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965960" y="4114800"/>
            <a:ext cx="20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2167128" y="4114800"/>
            <a:ext cx="1417200" cy="50280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2167128" y="4114800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Extract 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Vendors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3584448" y="4114800"/>
            <a:ext cx="20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3785616" y="4114800"/>
            <a:ext cx="1417200" cy="50280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3785616" y="4114800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Supplement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from 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5202936" y="4114800"/>
            <a:ext cx="20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404104" y="4114800"/>
            <a:ext cx="1417200" cy="50280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5404104" y="4114800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Direct Vendor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Investigation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6821424" y="4114800"/>
            <a:ext cx="20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7022592" y="4114800"/>
            <a:ext cx="1417200" cy="502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022592" y="4114800"/>
            <a:ext cx="141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Edition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0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Approach: Dual-Track Parallel Structure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548640" y="77724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 "wait for data, then act" — rather, "act while building the data"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548640" y="1280160"/>
            <a:ext cx="37947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548640" y="1280160"/>
            <a:ext cx="549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0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Track 1: Data Foundation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777240" y="192024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Build incrementally, improve accuracy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777240" y="2331720"/>
            <a:ext cx="10059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77240" y="233172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920240" y="23317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Vendor Master 1st edition (top spend coverage)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777240" y="2971800"/>
            <a:ext cx="10059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777240" y="297180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1920240" y="297180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2nd edition + Contract Master 1st edition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777240" y="3611880"/>
            <a:ext cx="10059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777240" y="361188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920240" y="361188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Ongoing update governance established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4800600" y="1280160"/>
            <a:ext cx="37947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4800600" y="1280160"/>
            <a:ext cx="5490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3" name="Google Shape;5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8928" y="1481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0"/>
          <p:cNvSpPr/>
          <p:nvPr/>
        </p:nvSpPr>
        <p:spPr>
          <a:xfrm>
            <a:off x="5623560" y="1371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Track 2: Value Delivery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5029200" y="192024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Deliver results with available data, without waiting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029200" y="2331720"/>
            <a:ext cx="10059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029200" y="233172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6172200" y="23317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Cost reduction plan (Manager + Emp. 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5029200" y="2971800"/>
            <a:ext cx="10059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5029200" y="297180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6172200" y="297180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Hire C joins → immediate execution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5029200" y="3611880"/>
            <a:ext cx="10059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5029200" y="361188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6172200" y="361188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Begin FY2027 strategy with draft master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Cost Reduction 10M JPY: Reverse-Engineered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548640" y="1005840"/>
            <a:ext cx="8046600" cy="640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777240" y="1005840"/>
            <a:ext cx="7589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Design Principle: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all initiatives will land as planned → build a pipeline of 15–20M to secure 10M in actual results.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548640" y="187452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April Workstream (Manager + Employee 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548640" y="2331720"/>
            <a:ext cx="1828800" cy="196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548640" y="2331720"/>
            <a:ext cx="1828800" cy="365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548640" y="23317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640080" y="27889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Identify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Candidates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640080" y="3154680"/>
            <a:ext cx="1645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Spend volume, renewal timing, service fragmentation, usage gaps, long-standing contracts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2560320" y="2331720"/>
            <a:ext cx="1828800" cy="196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2560320" y="2331720"/>
            <a:ext cx="1828800" cy="365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2560320" y="23317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2651760" y="27889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Estimate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Amounts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2651760" y="3154680"/>
            <a:ext cx="1645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Estimate by approach (renegotiation, consolidation, termination, re-sourcing)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4572000" y="2331720"/>
            <a:ext cx="1828800" cy="196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4572000" y="2331720"/>
            <a:ext cx="1828800" cy="365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1"/>
          <p:cNvSpPr/>
          <p:nvPr/>
        </p:nvSpPr>
        <p:spPr>
          <a:xfrm>
            <a:off x="4572000" y="23317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4663440" y="27889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Prioritize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663440" y="3154680"/>
            <a:ext cx="1645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Evaluate by feasibility × financial impact. Ensure High + Med = 15–20M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6583680" y="2331720"/>
            <a:ext cx="1828800" cy="196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1"/>
          <p:cNvSpPr/>
          <p:nvPr/>
        </p:nvSpPr>
        <p:spPr>
          <a:xfrm>
            <a:off x="6583680" y="2331720"/>
            <a:ext cx="1828800" cy="365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6583680" y="23317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675120" y="27889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6675120" y="3154680"/>
            <a:ext cx="1645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Document tasks so New Hire C can start executing from May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548640" y="4434840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From May: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1371600" y="4434840"/>
            <a:ext cx="722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Assign high-priority initiatives to New Hire C → Jun: autonomous → Jul–: leads all initiatives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2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Cost Reduction: Four Approaches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548640" y="68580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Select the optimal approach for each vendor/contract and estimate the reduction amount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548640" y="1097280"/>
            <a:ext cx="37947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548640" y="1097280"/>
            <a:ext cx="54900" cy="1691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731520" y="114300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Renegotiation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2468880" y="1170432"/>
            <a:ext cx="868800" cy="255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2"/>
          <p:cNvSpPr/>
          <p:nvPr/>
        </p:nvSpPr>
        <p:spPr>
          <a:xfrm>
            <a:off x="2468880" y="1170432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Med–High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3429000" y="1170432"/>
            <a:ext cx="777300" cy="2559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2"/>
          <p:cNvSpPr/>
          <p:nvPr/>
        </p:nvSpPr>
        <p:spPr>
          <a:xfrm>
            <a:off x="3429000" y="1170432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Effort 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731520" y="1508760"/>
            <a:ext cx="342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Review pricing and terms of existing contracts and negotiate with vendors. Targets long-standing contracts and those significantly above market rates.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731520" y="2148840"/>
            <a:ext cx="342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Market price research, competitive quotes, negotiation timed to contract renewal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4800600" y="1097280"/>
            <a:ext cx="37947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4800600" y="1097280"/>
            <a:ext cx="54900" cy="16917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4983480" y="114300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Consolidation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6720840" y="1170432"/>
            <a:ext cx="868800" cy="255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6720840" y="1170432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Med–High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7680960" y="1170432"/>
            <a:ext cx="777300" cy="2559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7680960" y="1170432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Effort Med–High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4983480" y="1508760"/>
            <a:ext cx="342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Aggregate similar services spread across multiple vendors to achieve volume discounts and streamline service management.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4983480" y="2148840"/>
            <a:ext cx="342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Inventory of similar services, selection of consolidation targets, migration planning and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48640" y="3017520"/>
            <a:ext cx="37947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548640" y="3017520"/>
            <a:ext cx="54900" cy="16917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/>
          <p:nvPr/>
        </p:nvSpPr>
        <p:spPr>
          <a:xfrm>
            <a:off x="731520" y="306324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BC9C"/>
                </a:solidFill>
                <a:latin typeface="Georgia"/>
                <a:ea typeface="Georgia"/>
                <a:cs typeface="Georgia"/>
                <a:sym typeface="Georgia"/>
              </a:rPr>
              <a:t>Termination / Reduction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2468880" y="3090672"/>
            <a:ext cx="868800" cy="255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2468880" y="3090672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Low–Med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3429000" y="3090672"/>
            <a:ext cx="777300" cy="2559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/>
          <p:cNvSpPr/>
          <p:nvPr/>
        </p:nvSpPr>
        <p:spPr>
          <a:xfrm>
            <a:off x="3429000" y="3090672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Effort 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731520" y="3429000"/>
            <a:ext cx="342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Identify underutilized services or duplicate contracts and cancel or scale down. Includes elimination of unused licenses.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731520" y="4069080"/>
            <a:ext cx="342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Usage analysis, identification of surplus licenses, review of cancellation terms and penalties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4800600" y="3017520"/>
            <a:ext cx="37947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>
            <a:off x="4800600" y="3017520"/>
            <a:ext cx="54900" cy="169170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/>
          <p:nvPr/>
        </p:nvSpPr>
        <p:spPr>
          <a:xfrm>
            <a:off x="4983480" y="306324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C6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5B2C6F"/>
                </a:solidFill>
                <a:latin typeface="Georgia"/>
                <a:ea typeface="Georgia"/>
                <a:cs typeface="Georgia"/>
                <a:sym typeface="Georgia"/>
              </a:rPr>
              <a:t>Alternative Sourcing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6720840" y="3090672"/>
            <a:ext cx="868800" cy="255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/>
          <p:cNvSpPr/>
          <p:nvPr/>
        </p:nvSpPr>
        <p:spPr>
          <a:xfrm>
            <a:off x="6720840" y="3090672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7680960" y="3090672"/>
            <a:ext cx="777300" cy="2559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/>
          <p:cNvSpPr/>
          <p:nvPr/>
        </p:nvSpPr>
        <p:spPr>
          <a:xfrm>
            <a:off x="7680960" y="3090672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Effort 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4983480" y="3429000"/>
            <a:ext cx="342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Replace high-cost contracts with lower-cost alternatives offering equivalent functionality (other vendors, OSS, etc.).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4983480" y="4069080"/>
            <a:ext cx="342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9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Research alternative options and PoC, evaluate migration cost and risk, develop transition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Cost Reduction Feasibility: Tiered Filter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548640" y="68580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Feasibility and effort vary significantly based on where the contract and budget reside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548640" y="1143000"/>
            <a:ext cx="457200" cy="109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548640" y="1143000"/>
            <a:ext cx="457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1143000" y="1143000"/>
            <a:ext cx="74523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1143000" y="1143000"/>
            <a:ext cx="54900" cy="109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3"/>
          <p:cNvSpPr/>
          <p:nvPr/>
        </p:nvSpPr>
        <p:spPr>
          <a:xfrm>
            <a:off x="1371600" y="11887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ICT Contract &amp; ICT Budget (Japan)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5943600" y="118872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◎  Feasibility: Highest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1371600" y="1508760"/>
            <a:ext cx="7041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ICT owns both the contract and the domestic budget. Decision-making is straightforward with the shortest lead time. No transfer required. Core of the cost reduction pipeline.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548640" y="2423160"/>
            <a:ext cx="457200" cy="1097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548640" y="2423160"/>
            <a:ext cx="457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1143000" y="2423160"/>
            <a:ext cx="74523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3"/>
          <p:cNvSpPr/>
          <p:nvPr/>
        </p:nvSpPr>
        <p:spPr>
          <a:xfrm>
            <a:off x="1143000" y="2423160"/>
            <a:ext cx="54900" cy="1097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1371600" y="24688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ICT Contract &amp; ICT Budget (Global)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5943600" y="246888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○  Feasibility: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1371600" y="2788920"/>
            <a:ext cx="7041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Within ICT, so organizational authority can be leveraged. Communication overhead exists (time zones, language), but no transfer is required. Second-tier priority.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548640" y="3703320"/>
            <a:ext cx="80466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3"/>
          <p:cNvSpPr/>
          <p:nvPr/>
        </p:nvSpPr>
        <p:spPr>
          <a:xfrm>
            <a:off x="777240" y="3703320"/>
            <a:ext cx="758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No transfer required for Tiers 1 &amp; 2 → High feasibility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548640" y="4297680"/>
            <a:ext cx="457200" cy="41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548640" y="429768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1143000" y="4297680"/>
            <a:ext cx="7452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Business Unit owns contract &amp; budget</a:t>
            </a: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 → Difficulty depends on transfer feasibility and pre-agreement (next slide)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4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Business Unit Contracts: Feasibility Tiers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548640" y="68580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the business unit holds the contract and budget, difficulty splits into three tiers based on transfer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2" name="Google Shape;642;p24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{C6062EBF-0AE2-45E6-BAED-0A986A695756}</a:tableStyleId>
              </a:tblPr>
              <a:tblGrid>
                <a:gridCol w="1371600"/>
                <a:gridCol w="2222000"/>
                <a:gridCol w="2222000"/>
                <a:gridCol w="2231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Pre-Transfer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Pre-Agreement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Pre-Agreement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392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ICT-led negotiation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transfer (Route A)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△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ongoing info sharing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&amp; approval — time-intensive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✕  Out of Scope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BD8"/>
                    </a:solidFill>
                  </a:tcPr>
                </a:tc>
              </a:tr>
            </a:tbl>
          </a:graphicData>
        </a:graphic>
      </p:graphicFrame>
      <p:sp>
        <p:nvSpPr>
          <p:cNvPr id="643" name="Google Shape;643;p24"/>
          <p:cNvSpPr/>
          <p:nvPr/>
        </p:nvSpPr>
        <p:spPr>
          <a:xfrm>
            <a:off x="548640" y="2743200"/>
            <a:ext cx="24690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548640" y="2743200"/>
            <a:ext cx="54900" cy="15087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777240" y="27889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○ Pre-Transfer Completed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777240" y="3127248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Contract and budget are transferred to ICT before negotiation (Route A). Once transferred, equivalent to an ICT contract — fast execution. Requires early confirmation of transfer timeline with Finance Partner.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3337560" y="2743200"/>
            <a:ext cx="24690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3337560" y="2743200"/>
            <a:ext cx="54900" cy="1508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/>
          <p:nvPr/>
        </p:nvSpPr>
        <p:spPr>
          <a:xfrm>
            <a:off x="3566160" y="27889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△ Pre-Agreement to Transfer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3566160" y="3127248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Agreement to transfer exists but is not completed pre-negotiation. Mandate-based negotiation (Route B) — each outcome requires approval from the original contract holder. Significant time and effort overhead.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6126480" y="2743200"/>
            <a:ext cx="24690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4"/>
          <p:cNvSpPr/>
          <p:nvPr/>
        </p:nvSpPr>
        <p:spPr>
          <a:xfrm>
            <a:off x="6126480" y="2743200"/>
            <a:ext cx="54900" cy="1508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4"/>
          <p:cNvSpPr/>
          <p:nvPr/>
        </p:nvSpPr>
        <p:spPr>
          <a:xfrm>
            <a:off x="6355080" y="278892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✕ No Pre-Agreement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6355080" y="3127248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Without pre-agreement on transfer, ICT cannot establish itself as the negotiating counterparty. These contracts are excluded from the current year's scope. Focus on relationship-building only.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548640" y="4343400"/>
            <a:ext cx="80466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777240" y="4343400"/>
            <a:ext cx="758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Key Action: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April, inventory candidate contracts with Finance Partner, classify each into the appropriate column, and report findings to leadership.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5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Negotiation Process: Route A / Route 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548640" y="822960"/>
            <a:ext cx="8046600" cy="502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5"/>
          <p:cNvSpPr/>
          <p:nvPr/>
        </p:nvSpPr>
        <p:spPr>
          <a:xfrm>
            <a:off x="777240" y="822960"/>
            <a:ext cx="758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Governing Principle: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the vendor's perspective, ICT must be the contractual counterparty → contract &amp; budget transfer is a prerequisite for negotiation.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548640" y="150876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Phase 0 | Pre-Qualification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548640" y="1874520"/>
            <a:ext cx="2560200" cy="41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5"/>
          <p:cNvSpPr/>
          <p:nvPr/>
        </p:nvSpPr>
        <p:spPr>
          <a:xfrm>
            <a:off x="548640" y="187452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contract &amp; budget be transferred to ICT?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3154680" y="187452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YES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3703320" y="1874520"/>
            <a:ext cx="1188600" cy="41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5"/>
          <p:cNvSpPr/>
          <p:nvPr/>
        </p:nvSpPr>
        <p:spPr>
          <a:xfrm>
            <a:off x="3703320" y="187452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548640" y="233172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548640" y="2651760"/>
            <a:ext cx="2560200" cy="411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548640" y="265176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a mandate be obtained?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3154680" y="2651760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YES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3703320" y="2651760"/>
            <a:ext cx="1188600" cy="41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5"/>
          <p:cNvSpPr/>
          <p:nvPr/>
        </p:nvSpPr>
        <p:spPr>
          <a:xfrm>
            <a:off x="3703320" y="2651760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3154680" y="3108960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NO 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3703320" y="3063240"/>
            <a:ext cx="1188600" cy="365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3703320" y="306324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5303520" y="1508760"/>
            <a:ext cx="32919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5"/>
          <p:cNvSpPr/>
          <p:nvPr/>
        </p:nvSpPr>
        <p:spPr>
          <a:xfrm>
            <a:off x="5303520" y="1508760"/>
            <a:ext cx="549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5"/>
          <p:cNvSpPr/>
          <p:nvPr/>
        </p:nvSpPr>
        <p:spPr>
          <a:xfrm>
            <a:off x="5486400" y="155448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Route A (Standard): Post-Transfer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/>
          <p:nvPr/>
        </p:nvSpPr>
        <p:spPr>
          <a:xfrm>
            <a:off x="5486400" y="1920240"/>
            <a:ext cx="2926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Transfer → Prep → Negotiate → Agreement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ICT holds full authority. Fast execution with high feasibility for current-year landing.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5"/>
          <p:cNvSpPr/>
          <p:nvPr/>
        </p:nvSpPr>
        <p:spPr>
          <a:xfrm>
            <a:off x="5303520" y="3063240"/>
            <a:ext cx="3291900" cy="155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5303520" y="3063240"/>
            <a:ext cx="54900" cy="1554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5"/>
          <p:cNvSpPr/>
          <p:nvPr/>
        </p:nvSpPr>
        <p:spPr>
          <a:xfrm>
            <a:off x="5486400" y="310896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Route B (Exception): Mandate-Based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/>
          <p:nvPr/>
        </p:nvSpPr>
        <p:spPr>
          <a:xfrm>
            <a:off x="5486400" y="3474720"/>
            <a:ext cx="292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Mandate → Negotiate → Seek Approval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Approval process is the bottleneck. Dependent on the other organization's decision speed. Current-year feasibility drops significantly. Leadership top-down support may be required.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6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Goals 2–6: Summary of Approach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548640" y="1005840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548640" y="1005840"/>
            <a:ext cx="54900" cy="658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6"/>
          <p:cNvSpPr/>
          <p:nvPr/>
        </p:nvSpPr>
        <p:spPr>
          <a:xfrm>
            <a:off x="777240" y="1097280"/>
            <a:ext cx="8229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6"/>
          <p:cNvSpPr/>
          <p:nvPr/>
        </p:nvSpPr>
        <p:spPr>
          <a:xfrm>
            <a:off x="777240" y="1097280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1737360" y="105156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ICT Talent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4572000" y="105156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Employee A (Lead)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1737360" y="1344168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Aug: Framework defined → Oct: Survey &amp; gap analysis → Year-end: Development program re-launched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548640" y="1755648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6"/>
          <p:cNvSpPr/>
          <p:nvPr/>
        </p:nvSpPr>
        <p:spPr>
          <a:xfrm>
            <a:off x="548640" y="1755648"/>
            <a:ext cx="54900" cy="658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6"/>
          <p:cNvSpPr/>
          <p:nvPr/>
        </p:nvSpPr>
        <p:spPr>
          <a:xfrm>
            <a:off x="777240" y="1847088"/>
            <a:ext cx="822900" cy="457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6"/>
          <p:cNvSpPr/>
          <p:nvPr/>
        </p:nvSpPr>
        <p:spPr>
          <a:xfrm>
            <a:off x="777240" y="1847088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1737360" y="180136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Centralized Payment &amp; Forecast Mgmt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4572000" y="1801368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Temp Staff D + Finance BP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1737360" y="2093976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Monthly (BAU). Target: land within ±5% of FY2026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548640" y="2505456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6"/>
          <p:cNvSpPr/>
          <p:nvPr/>
        </p:nvSpPr>
        <p:spPr>
          <a:xfrm>
            <a:off x="548640" y="2505456"/>
            <a:ext cx="54900" cy="6585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6"/>
          <p:cNvSpPr/>
          <p:nvPr/>
        </p:nvSpPr>
        <p:spPr>
          <a:xfrm>
            <a:off x="777240" y="2596896"/>
            <a:ext cx="8229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6"/>
          <p:cNvSpPr/>
          <p:nvPr/>
        </p:nvSpPr>
        <p:spPr>
          <a:xfrm>
            <a:off x="777240" y="2596896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1737360" y="255117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S&amp;G Admin Process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572000" y="2551176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Manager + All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1737360" y="2843784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Jun: identify candidates → quarterly pace → Year-end: 3+ improvements delivered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548640" y="3255264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6"/>
          <p:cNvSpPr/>
          <p:nvPr/>
        </p:nvSpPr>
        <p:spPr>
          <a:xfrm>
            <a:off x="548640" y="3255264"/>
            <a:ext cx="54900" cy="658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6"/>
          <p:cNvSpPr/>
          <p:nvPr/>
        </p:nvSpPr>
        <p:spPr>
          <a:xfrm>
            <a:off x="777240" y="3346704"/>
            <a:ext cx="82290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6"/>
          <p:cNvSpPr/>
          <p:nvPr/>
        </p:nvSpPr>
        <p:spPr>
          <a:xfrm>
            <a:off x="777240" y="3346704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1737360" y="330098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FY2027 Annual Plan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4572000" y="3300984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Finance BP (co-lead)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1737360" y="3593592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Develop in line with planning schedule. Drive in coordination with Finance BP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548640" y="4005072"/>
            <a:ext cx="80466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6"/>
          <p:cNvSpPr/>
          <p:nvPr/>
        </p:nvSpPr>
        <p:spPr>
          <a:xfrm>
            <a:off x="548640" y="4005072"/>
            <a:ext cx="54900" cy="6585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6"/>
          <p:cNvSpPr/>
          <p:nvPr/>
        </p:nvSpPr>
        <p:spPr>
          <a:xfrm>
            <a:off x="777240" y="4096512"/>
            <a:ext cx="82290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6"/>
          <p:cNvSpPr/>
          <p:nvPr/>
        </p:nvSpPr>
        <p:spPr>
          <a:xfrm>
            <a:off x="777240" y="4096512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6"/>
          <p:cNvSpPr/>
          <p:nvPr/>
        </p:nvSpPr>
        <p:spPr>
          <a:xfrm>
            <a:off x="1737360" y="405079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Records Management Improvement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6"/>
          <p:cNvSpPr/>
          <p:nvPr/>
        </p:nvSpPr>
        <p:spPr>
          <a:xfrm>
            <a:off x="4572000" y="4050792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Manager (directly)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1737360" y="4343400"/>
            <a:ext cx="667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Apr: meeting with Internal Audit → set priorities → ongoing as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7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Annual Timeline (Overview)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201168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7"/>
          <p:cNvSpPr/>
          <p:nvPr/>
        </p:nvSpPr>
        <p:spPr>
          <a:xfrm>
            <a:off x="201168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274320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7"/>
          <p:cNvSpPr/>
          <p:nvPr/>
        </p:nvSpPr>
        <p:spPr>
          <a:xfrm>
            <a:off x="274320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347472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7"/>
          <p:cNvSpPr/>
          <p:nvPr/>
        </p:nvSpPr>
        <p:spPr>
          <a:xfrm>
            <a:off x="347472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420624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7"/>
          <p:cNvSpPr/>
          <p:nvPr/>
        </p:nvSpPr>
        <p:spPr>
          <a:xfrm>
            <a:off x="420624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493776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7"/>
          <p:cNvSpPr/>
          <p:nvPr/>
        </p:nvSpPr>
        <p:spPr>
          <a:xfrm>
            <a:off x="493776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566928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7"/>
          <p:cNvSpPr/>
          <p:nvPr/>
        </p:nvSpPr>
        <p:spPr>
          <a:xfrm>
            <a:off x="566928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640080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7"/>
          <p:cNvSpPr/>
          <p:nvPr/>
        </p:nvSpPr>
        <p:spPr>
          <a:xfrm>
            <a:off x="640080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713232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7"/>
          <p:cNvSpPr/>
          <p:nvPr/>
        </p:nvSpPr>
        <p:spPr>
          <a:xfrm>
            <a:off x="713232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7"/>
          <p:cNvSpPr/>
          <p:nvPr/>
        </p:nvSpPr>
        <p:spPr>
          <a:xfrm>
            <a:off x="7863840" y="914400"/>
            <a:ext cx="7314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7"/>
          <p:cNvSpPr/>
          <p:nvPr/>
        </p:nvSpPr>
        <p:spPr>
          <a:xfrm>
            <a:off x="7863840" y="9144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7"/>
          <p:cNvSpPr/>
          <p:nvPr/>
        </p:nvSpPr>
        <p:spPr>
          <a:xfrm>
            <a:off x="274320" y="137160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(Track 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7"/>
          <p:cNvSpPr/>
          <p:nvPr/>
        </p:nvSpPr>
        <p:spPr>
          <a:xfrm>
            <a:off x="2029968" y="1417320"/>
            <a:ext cx="1426500" cy="41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7"/>
          <p:cNvSpPr/>
          <p:nvPr/>
        </p:nvSpPr>
        <p:spPr>
          <a:xfrm>
            <a:off x="2029968" y="1417320"/>
            <a:ext cx="14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analysis &amp; extraction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7"/>
          <p:cNvSpPr/>
          <p:nvPr/>
        </p:nvSpPr>
        <p:spPr>
          <a:xfrm>
            <a:off x="3493008" y="1417320"/>
            <a:ext cx="2157900" cy="411600"/>
          </a:xfrm>
          <a:prstGeom prst="rect">
            <a:avLst/>
          </a:prstGeom>
          <a:solidFill>
            <a:srgbClr val="A3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7"/>
          <p:cNvSpPr/>
          <p:nvPr/>
        </p:nvSpPr>
        <p:spPr>
          <a:xfrm>
            <a:off x="3493008" y="1417320"/>
            <a:ext cx="2157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41B42"/>
                </a:solidFill>
                <a:latin typeface="Calibri"/>
                <a:ea typeface="Calibri"/>
                <a:cs typeface="Calibri"/>
                <a:sym typeface="Calibri"/>
              </a:rPr>
              <a:t>Investigation &amp; 2nd edition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7"/>
          <p:cNvSpPr/>
          <p:nvPr/>
        </p:nvSpPr>
        <p:spPr>
          <a:xfrm>
            <a:off x="5687568" y="1417320"/>
            <a:ext cx="2157900" cy="411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7"/>
          <p:cNvSpPr/>
          <p:nvPr/>
        </p:nvSpPr>
        <p:spPr>
          <a:xfrm>
            <a:off x="5687568" y="1417320"/>
            <a:ext cx="2157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Governance established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7"/>
          <p:cNvSpPr/>
          <p:nvPr/>
        </p:nvSpPr>
        <p:spPr>
          <a:xfrm>
            <a:off x="274320" y="201168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(Track 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7"/>
          <p:cNvSpPr/>
          <p:nvPr/>
        </p:nvSpPr>
        <p:spPr>
          <a:xfrm>
            <a:off x="2029968" y="2057400"/>
            <a:ext cx="694800" cy="41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7"/>
          <p:cNvSpPr/>
          <p:nvPr/>
        </p:nvSpPr>
        <p:spPr>
          <a:xfrm>
            <a:off x="2029968" y="2057400"/>
            <a:ext cx="69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7"/>
          <p:cNvSpPr/>
          <p:nvPr/>
        </p:nvSpPr>
        <p:spPr>
          <a:xfrm>
            <a:off x="2761488" y="2057400"/>
            <a:ext cx="2889600" cy="41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7"/>
          <p:cNvSpPr/>
          <p:nvPr/>
        </p:nvSpPr>
        <p:spPr>
          <a:xfrm>
            <a:off x="2761488" y="2057400"/>
            <a:ext cx="288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(New Hire C leads)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5687568" y="2057400"/>
            <a:ext cx="2157900" cy="4116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7"/>
          <p:cNvSpPr/>
          <p:nvPr/>
        </p:nvSpPr>
        <p:spPr>
          <a:xfrm>
            <a:off x="5687568" y="2057400"/>
            <a:ext cx="2157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274320" y="265176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Emp.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2029968" y="2697480"/>
            <a:ext cx="1426500" cy="41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7"/>
          <p:cNvSpPr/>
          <p:nvPr/>
        </p:nvSpPr>
        <p:spPr>
          <a:xfrm>
            <a:off x="2029968" y="2697480"/>
            <a:ext cx="14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 assessment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3493008" y="2697480"/>
            <a:ext cx="694800" cy="41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3493008" y="2697480"/>
            <a:ext cx="69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274320" y="329184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IT Consultant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(Scenario 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4224528" y="3337560"/>
            <a:ext cx="1426500" cy="41160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7"/>
          <p:cNvSpPr/>
          <p:nvPr/>
        </p:nvSpPr>
        <p:spPr>
          <a:xfrm>
            <a:off x="4224528" y="3337560"/>
            <a:ext cx="14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5687568" y="3337560"/>
            <a:ext cx="2157900" cy="4116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5687568" y="3337560"/>
            <a:ext cx="2157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Procedures → Temp handoff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274320" y="3931920"/>
            <a:ext cx="164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Talent FW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(Goal 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2029968" y="3977640"/>
            <a:ext cx="2889600" cy="4116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7"/>
          <p:cNvSpPr/>
          <p:nvPr/>
        </p:nvSpPr>
        <p:spPr>
          <a:xfrm>
            <a:off x="2029968" y="3977640"/>
            <a:ext cx="288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7"/>
          <p:cNvSpPr/>
          <p:nvPr/>
        </p:nvSpPr>
        <p:spPr>
          <a:xfrm>
            <a:off x="4956048" y="3977640"/>
            <a:ext cx="1426500" cy="4116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7"/>
          <p:cNvSpPr/>
          <p:nvPr/>
        </p:nvSpPr>
        <p:spPr>
          <a:xfrm>
            <a:off x="4956048" y="3977640"/>
            <a:ext cx="14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Survey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6419088" y="3977640"/>
            <a:ext cx="1426500" cy="4116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7"/>
          <p:cNvSpPr/>
          <p:nvPr/>
        </p:nvSpPr>
        <p:spPr>
          <a:xfrm>
            <a:off x="6419088" y="3977640"/>
            <a:ext cx="14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548640" y="443484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★ Key leadership decision 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2011680" y="4434840"/>
            <a:ext cx="731400" cy="18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7"/>
          <p:cNvSpPr/>
          <p:nvPr/>
        </p:nvSpPr>
        <p:spPr>
          <a:xfrm>
            <a:off x="3474720" y="4434840"/>
            <a:ext cx="731400" cy="18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7"/>
          <p:cNvSpPr/>
          <p:nvPr/>
        </p:nvSpPr>
        <p:spPr>
          <a:xfrm>
            <a:off x="5669280" y="4434840"/>
            <a:ext cx="731400" cy="183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8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Personnel Plan: Employee B Scenarios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548640" y="1051560"/>
            <a:ext cx="37947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8"/>
          <p:cNvSpPr/>
          <p:nvPr/>
        </p:nvSpPr>
        <p:spPr>
          <a:xfrm>
            <a:off x="548640" y="1051560"/>
            <a:ext cx="54900" cy="109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8"/>
          <p:cNvSpPr/>
          <p:nvPr/>
        </p:nvSpPr>
        <p:spPr>
          <a:xfrm>
            <a:off x="777240" y="109728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Scenario A: Employee B Improves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777240" y="1463040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Proceed near the original plan. Employee B continues data foundation 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4800600" y="1051560"/>
            <a:ext cx="37947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8"/>
          <p:cNvSpPr/>
          <p:nvPr/>
        </p:nvSpPr>
        <p:spPr>
          <a:xfrm>
            <a:off x="4800600" y="1051560"/>
            <a:ext cx="54900" cy="1097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8"/>
          <p:cNvSpPr/>
          <p:nvPr/>
        </p:nvSpPr>
        <p:spPr>
          <a:xfrm>
            <a:off x="5029200" y="109728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Scenario B: PIP (Current Assumption)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5029200" y="1463040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After Employee B's departure, cover with external resources.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548640" y="237744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Scenario B | Transition 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8"/>
          <p:cNvSpPr/>
          <p:nvPr/>
        </p:nvSpPr>
        <p:spPr>
          <a:xfrm>
            <a:off x="548640" y="2880360"/>
            <a:ext cx="23775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8"/>
          <p:cNvSpPr/>
          <p:nvPr/>
        </p:nvSpPr>
        <p:spPr>
          <a:xfrm>
            <a:off x="548640" y="2880360"/>
            <a:ext cx="2377500" cy="320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8"/>
          <p:cNvSpPr/>
          <p:nvPr/>
        </p:nvSpPr>
        <p:spPr>
          <a:xfrm>
            <a:off x="548640" y="288036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Apr–Jun: Employee 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640080" y="324612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Assessment period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Parallel: IT consultant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scoping &amp; sourcing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2926080" y="2880360"/>
            <a:ext cx="320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3246120" y="2880360"/>
            <a:ext cx="23775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8"/>
          <p:cNvSpPr/>
          <p:nvPr/>
        </p:nvSpPr>
        <p:spPr>
          <a:xfrm>
            <a:off x="3246120" y="2880360"/>
            <a:ext cx="2377500" cy="320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8"/>
          <p:cNvSpPr/>
          <p:nvPr/>
        </p:nvSpPr>
        <p:spPr>
          <a:xfrm>
            <a:off x="3246120" y="288036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Jul–Sep: IT Consultant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3337560" y="324612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Lead data foundation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Document procedures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(6-month contract)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5623560" y="2880360"/>
            <a:ext cx="320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5943600" y="2880360"/>
            <a:ext cx="23775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8"/>
          <p:cNvSpPr/>
          <p:nvPr/>
        </p:nvSpPr>
        <p:spPr>
          <a:xfrm>
            <a:off x="5943600" y="2880360"/>
            <a:ext cx="2377500" cy="3201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5943600" y="288036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Oct–: Temp Staff (New)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6035040" y="3246120"/>
            <a:ext cx="2194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Follow documented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procedures for ongoing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548640" y="4297680"/>
            <a:ext cx="8046600" cy="3657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8"/>
          <p:cNvSpPr/>
          <p:nvPr/>
        </p:nvSpPr>
        <p:spPr>
          <a:xfrm>
            <a:off x="777240" y="4297680"/>
            <a:ext cx="758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Design Intent: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New Hire C focused on strategic work (1b–1e). Handle data construction via consultant → temp staff for a sustainable operating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9"/>
          <p:cNvSpPr/>
          <p:nvPr/>
        </p:nvSpPr>
        <p:spPr>
          <a:xfrm>
            <a:off x="548640" y="2743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Decisions &amp; Support Requested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9"/>
          <p:cNvSpPr/>
          <p:nvPr/>
        </p:nvSpPr>
        <p:spPr>
          <a:xfrm>
            <a:off x="548640" y="77724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 respectfully request your decision or support on the following six 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9"/>
          <p:cNvSpPr/>
          <p:nvPr/>
        </p:nvSpPr>
        <p:spPr>
          <a:xfrm>
            <a:off x="548640" y="1280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9"/>
          <p:cNvSpPr/>
          <p:nvPr/>
        </p:nvSpPr>
        <p:spPr>
          <a:xfrm>
            <a:off x="548640" y="1280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685800" y="1325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/>
          <p:nvPr/>
        </p:nvSpPr>
        <p:spPr>
          <a:xfrm>
            <a:off x="1005840" y="1325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10M Target Positioning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9"/>
          <p:cNvSpPr/>
          <p:nvPr/>
        </p:nvSpPr>
        <p:spPr>
          <a:xfrm>
            <a:off x="731520" y="1664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 the 10M figure a hard target, or is delivering tangible results this year the priority? This determines pipeline composition — we'd like to align in April.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9"/>
          <p:cNvSpPr/>
          <p:nvPr/>
        </p:nvSpPr>
        <p:spPr>
          <a:xfrm>
            <a:off x="4754880" y="1280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9"/>
          <p:cNvSpPr/>
          <p:nvPr/>
        </p:nvSpPr>
        <p:spPr>
          <a:xfrm>
            <a:off x="4754880" y="1280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9"/>
          <p:cNvSpPr/>
          <p:nvPr/>
        </p:nvSpPr>
        <p:spPr>
          <a:xfrm>
            <a:off x="4892040" y="1325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9"/>
          <p:cNvSpPr/>
          <p:nvPr/>
        </p:nvSpPr>
        <p:spPr>
          <a:xfrm>
            <a:off x="5212080" y="1325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Vendor Master 1st Edition Criteria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4937760" y="1664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June-end deliverable will specify coverage and accuracy levels. We'd like to pre-agree that this is not the "complete" version.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548640" y="2423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9"/>
          <p:cNvSpPr/>
          <p:nvPr/>
        </p:nvSpPr>
        <p:spPr>
          <a:xfrm>
            <a:off x="548640" y="2423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9"/>
          <p:cNvSpPr/>
          <p:nvPr/>
        </p:nvSpPr>
        <p:spPr>
          <a:xfrm>
            <a:off x="685800" y="2468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1005840" y="2468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Employee B PIP / HR Process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731520" y="2807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After the Apr–Jun assessment, if PIP proceeds, we would like to coordinate with HR at the appropriate time with your involvement.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4754880" y="2423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9"/>
          <p:cNvSpPr/>
          <p:nvPr/>
        </p:nvSpPr>
        <p:spPr>
          <a:xfrm>
            <a:off x="4754880" y="2423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9"/>
          <p:cNvSpPr/>
          <p:nvPr/>
        </p:nvSpPr>
        <p:spPr>
          <a:xfrm>
            <a:off x="4892040" y="2468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④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5212080" y="2468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 Consultant Budget Pre-Approval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4937760" y="2807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Scenario B, we need to secure budget for a 6-month engagement and begin the approval process in April.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548640" y="3566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9"/>
          <p:cNvSpPr/>
          <p:nvPr/>
        </p:nvSpPr>
        <p:spPr>
          <a:xfrm>
            <a:off x="548640" y="3566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9"/>
          <p:cNvSpPr/>
          <p:nvPr/>
        </p:nvSpPr>
        <p:spPr>
          <a:xfrm>
            <a:off x="685800" y="3611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1005840" y="3611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Transfer Authority &amp; Scope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731520" y="3950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 will inventory transferable contracts with Finance Partner and seek your final decision on which to proceed with.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4754880" y="3566160"/>
            <a:ext cx="3840600" cy="1005900"/>
          </a:xfrm>
          <a:prstGeom prst="rect">
            <a:avLst/>
          </a:prstGeom>
          <a:solidFill>
            <a:srgbClr val="141B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9"/>
          <p:cNvSpPr/>
          <p:nvPr/>
        </p:nvSpPr>
        <p:spPr>
          <a:xfrm>
            <a:off x="4754880" y="3566160"/>
            <a:ext cx="54900" cy="10059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9"/>
          <p:cNvSpPr/>
          <p:nvPr/>
        </p:nvSpPr>
        <p:spPr>
          <a:xfrm>
            <a:off x="4892040" y="36118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843"/>
                </a:solidFill>
                <a:latin typeface="Georgia"/>
                <a:ea typeface="Georgia"/>
                <a:cs typeface="Georgia"/>
                <a:sym typeface="Georgia"/>
              </a:rPr>
              <a:t>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9"/>
          <p:cNvSpPr/>
          <p:nvPr/>
        </p:nvSpPr>
        <p:spPr>
          <a:xfrm>
            <a:off x="5212080" y="361188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Route B Mandate Support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4937760" y="3950208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Obtaining mandates from business units or global ICT may require leadership-level engagement. We anticipate requesting your direct support.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