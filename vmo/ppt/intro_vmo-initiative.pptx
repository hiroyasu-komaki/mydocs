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638" y="60960"/>
            <a:ext cx="70000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Overall: Vendor Management Initiative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620000" y="60960"/>
            <a:ext cx="13701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Kyowa Kirin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74638" y="609600"/>
            <a:ext cx="85947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6350"/>
                </a:solidFill>
                <a:latin typeface="Calibri"/>
                <a:ea typeface="Calibri"/>
                <a:cs typeface="Calibri"/>
                <a:sym typeface="Calibri"/>
              </a:rPr>
              <a:t>Vendor Optimization Framework — Cost Reduction / Efficiency Improvement / Risk Mitigation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74638" y="876300"/>
            <a:ext cx="2560320" cy="365760"/>
          </a:xfrm>
          <a:prstGeom prst="rect">
            <a:avLst/>
          </a:prstGeom>
          <a:solidFill>
            <a:srgbClr val="C45E1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638" y="8763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74638" y="1242060"/>
            <a:ext cx="2560320" cy="362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1295400"/>
            <a:ext cx="2378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Arial"/>
                <a:ea typeface="Arial"/>
                <a:cs typeface="Arial"/>
                <a:sym typeface="Arial"/>
              </a:rPr>
              <a:t>Background &amp; Challenges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65760" y="1630680"/>
            <a:ext cx="2378880" cy="3145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ICTS department lacks proper management of vendor information — contract data, performance evaluations, and risk indicators.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As a result, it is difficult to understand the current situation and impossible to develop an effective vendor optimization strategy.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26638" y="2194560"/>
            <a:ext cx="228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46558" y="876300"/>
            <a:ext cx="2743200" cy="3657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46558" y="8763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246558" y="1242060"/>
            <a:ext cx="2743200" cy="1706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37920" y="1295400"/>
            <a:ext cx="25603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Arial"/>
                <a:ea typeface="Arial"/>
                <a:cs typeface="Arial"/>
                <a:sym typeface="Arial"/>
              </a:rPr>
              <a:t>Solution &amp; Maturity Model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37920" y="16002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Three-stage maturity model: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45E10"/>
                </a:solidFill>
                <a:latin typeface="Calibri"/>
                <a:ea typeface="Calibri"/>
                <a:cs typeface="Calibri"/>
                <a:sym typeface="Calibri"/>
              </a:rPr>
              <a:t>Lv1 </a:t>
            </a: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Information Management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Lv2 </a:t>
            </a: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Continuous Evaluation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A050"/>
                </a:solidFill>
                <a:latin typeface="Calibri"/>
                <a:ea typeface="Calibri"/>
                <a:cs typeface="Calibri"/>
                <a:sym typeface="Calibri"/>
              </a:rPr>
              <a:t>Lv3 </a:t>
            </a: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Strategic Optimization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246558" y="3040560"/>
            <a:ext cx="2743200" cy="1827480"/>
          </a:xfrm>
          <a:prstGeom prst="rect">
            <a:avLst/>
          </a:prstGeom>
          <a:solidFill>
            <a:srgbClr val="FEF0E6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337920" y="3093900"/>
            <a:ext cx="25603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45E10"/>
                </a:solidFill>
                <a:latin typeface="Arial"/>
                <a:ea typeface="Arial"/>
                <a:cs typeface="Arial"/>
                <a:sym typeface="Arial"/>
              </a:rPr>
              <a:t>Stakeholder Model (VMO)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337920" y="3398700"/>
            <a:ext cx="2560320" cy="136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VMO as central hub coordinating: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Legal / Procurement / Finance / BUs / ICTS / Vendors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45E10"/>
                </a:solidFill>
                <a:latin typeface="Calibri"/>
                <a:ea typeface="Calibri"/>
                <a:cs typeface="Calibri"/>
                <a:sym typeface="Calibri"/>
              </a:rPr>
              <a:t>Benefits: </a:t>
            </a:r>
            <a:r>
              <a:rPr b="0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Spend visibility, stronger negotiation, risk reduction, no missed renewals</a:t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081318" y="2194560"/>
            <a:ext cx="228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01478" y="876300"/>
            <a:ext cx="2469480" cy="365760"/>
          </a:xfrm>
          <a:prstGeom prst="rect">
            <a:avLst/>
          </a:prstGeom>
          <a:solidFill>
            <a:srgbClr val="C45E1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1478" y="876300"/>
            <a:ext cx="2469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401478" y="1242060"/>
            <a:ext cx="24694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92840" y="12954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47920"/>
                </a:solidFill>
                <a:latin typeface="Arial"/>
                <a:ea typeface="Arial"/>
                <a:cs typeface="Arial"/>
                <a:sym typeface="Arial"/>
              </a:rPr>
              <a:t>Vendor Master Data</a:t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92840" y="1539438"/>
            <a:ext cx="228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Merge &amp; deduplicate: P2 purchasing, Concur payments, and foreign remittance records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401478" y="2400960"/>
            <a:ext cx="2469480" cy="1097280"/>
          </a:xfrm>
          <a:prstGeom prst="rect">
            <a:avLst/>
          </a:prstGeom>
          <a:solidFill>
            <a:srgbClr val="FEF0E6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92840" y="24543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45E10"/>
                </a:solidFill>
                <a:latin typeface="Arial"/>
                <a:ea typeface="Arial"/>
                <a:cs typeface="Arial"/>
                <a:sym typeface="Arial"/>
              </a:rPr>
              <a:t>Contract Master Data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492840" y="2698740"/>
            <a:ext cx="228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Unify contracts from management system and DocuSign into standardized list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401478" y="3559860"/>
            <a:ext cx="2469480" cy="13078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492840" y="36132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Annual Goals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492840" y="3857040"/>
            <a:ext cx="228672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(by Mar 2026):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Vendor/contract list, interviews, dashboards, quick wins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4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74638" y="60960"/>
            <a:ext cx="68000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ロードマップ：2026年 Phase 1 マイルストーン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620000" y="60960"/>
            <a:ext cx="13701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Kyowa Kirin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74638" y="609600"/>
            <a:ext cx="40000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6350"/>
                </a:solidFill>
                <a:latin typeface="Calibri"/>
                <a:ea typeface="Calibri"/>
                <a:cs typeface="Calibri"/>
                <a:sym typeface="Calibri"/>
              </a:rPr>
              <a:t>目標達成期限：2026年3月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74638" y="2904960"/>
            <a:ext cx="8594724" cy="6096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227058" y="2813040"/>
            <a:ext cx="243840" cy="243840"/>
          </a:xfrm>
          <a:prstGeom prst="ellipse">
            <a:avLst/>
          </a:prstGeom>
          <a:solidFill>
            <a:srgbClr val="FFFFFF"/>
          </a:solidFill>
          <a:ln cap="flat" cmpd="sng" w="288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325878" y="2965920"/>
            <a:ext cx="45720" cy="9144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8858" y="3057360"/>
            <a:ext cx="1920240" cy="1872240"/>
          </a:xfrm>
          <a:prstGeom prst="rect">
            <a:avLst/>
          </a:prstGeom>
          <a:solidFill>
            <a:srgbClr val="FFFFFF"/>
          </a:solidFill>
          <a:ln cap="flat" cmpd="sng" w="2285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0298" y="311070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Arial"/>
                <a:ea typeface="Arial"/>
                <a:cs typeface="Arial"/>
                <a:sym typeface="Arial"/>
              </a:rPr>
              <a:t>★ リストの完成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80298" y="341550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ベンダー契約リスト作成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80298" y="365934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散在する情報を統合し、網羅的で正確なマスターリストを構築する最優先タスク。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375739" y="2813040"/>
            <a:ext cx="243840" cy="243840"/>
          </a:xfrm>
          <a:prstGeom prst="ellipse">
            <a:avLst/>
          </a:prstGeom>
          <a:solidFill>
            <a:srgbClr val="FFFFFF"/>
          </a:solidFill>
          <a:ln cap="flat" cmpd="sng" w="288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474559" y="2744280"/>
            <a:ext cx="45720" cy="9144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537539" y="914400"/>
            <a:ext cx="1920240" cy="1829880"/>
          </a:xfrm>
          <a:prstGeom prst="rect">
            <a:avLst/>
          </a:prstGeom>
          <a:solidFill>
            <a:srgbClr val="FFFFFF"/>
          </a:solidFill>
          <a:ln cap="flat" cmpd="sng" w="2285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628979" y="96774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D2B1F"/>
                </a:solidFill>
                <a:latin typeface="Arial"/>
                <a:ea typeface="Arial"/>
                <a:cs typeface="Arial"/>
                <a:sym typeface="Arial"/>
              </a:rPr>
              <a:t>現状報告・分析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2628979" y="127254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インタビューの実施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28979" y="15163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リストに基づき、各担当者へのヒアリングを実施し、潜在的な課題と現状を文書化。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524420" y="2813040"/>
            <a:ext cx="243840" cy="243840"/>
          </a:xfrm>
          <a:prstGeom prst="ellipse">
            <a:avLst/>
          </a:prstGeom>
          <a:solidFill>
            <a:srgbClr val="FFFFFF"/>
          </a:solidFill>
          <a:ln cap="flat" cmpd="sng" w="288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623240" y="2965920"/>
            <a:ext cx="45720" cy="91440"/>
          </a:xfrm>
          <a:prstGeom prst="rect">
            <a:avLst/>
          </a:prstGeom>
          <a:solidFill>
            <a:srgbClr val="F4C4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686220" y="3057360"/>
            <a:ext cx="1920240" cy="1872240"/>
          </a:xfrm>
          <a:prstGeom prst="rect">
            <a:avLst/>
          </a:prstGeom>
          <a:solidFill>
            <a:srgbClr val="FEF0E6"/>
          </a:solidFill>
          <a:ln cap="flat" cmpd="sng" w="2285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77660" y="311070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45E10"/>
                </a:solidFill>
                <a:latin typeface="Arial"/>
                <a:ea typeface="Arial"/>
                <a:cs typeface="Arial"/>
                <a:sym typeface="Arial"/>
              </a:rPr>
              <a:t>可視化基盤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777660" y="341550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ダッシュボードの構築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777660" y="365934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標準化されたデータを基に、支出状況や契約ステータスをリアルタイムで可視化。</a:t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673101" y="2813040"/>
            <a:ext cx="243840" cy="243840"/>
          </a:xfrm>
          <a:prstGeom prst="ellipse">
            <a:avLst/>
          </a:prstGeom>
          <a:solidFill>
            <a:srgbClr val="F47920"/>
          </a:solidFill>
          <a:ln cap="flat" cmpd="sng" w="28800">
            <a:solidFill>
              <a:srgbClr val="C45E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771921" y="2744280"/>
            <a:ext cx="45720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834901" y="914400"/>
            <a:ext cx="1920240" cy="18298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926341" y="967740"/>
            <a:ext cx="173736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早期の成果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926341" y="127254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E8CC"/>
                </a:solidFill>
                <a:latin typeface="Calibri"/>
                <a:ea typeface="Calibri"/>
                <a:cs typeface="Calibri"/>
                <a:sym typeface="Calibri"/>
              </a:rPr>
              <a:t>クイックウィンの実行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926341" y="1516380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不要な契約の棚卸しや、契約更新期日の自動アラート設定などを即座に実行。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