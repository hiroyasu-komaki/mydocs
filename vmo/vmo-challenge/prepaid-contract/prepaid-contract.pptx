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1E3A8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業務システム委託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「前払い契約」の</a:t>
            </a:r>
            <a:pPr indent="0" marL="0">
              <a:buNone/>
            </a:pPr>
            <a:r>
              <a:rPr lang="en-US" sz="4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</a:t>
            </a:r>
            <a:pPr indent="0" marL="0">
              <a:buNone/>
            </a:pPr>
            <a:r>
              <a:rPr lang="en-US" sz="4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慣習的な一括前払いを脱し、ガバナンスと交渉力を取り戻すためのガイド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3474720"/>
            <a:ext cx="914400" cy="9144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3538728"/>
            <a:ext cx="777240" cy="7772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703320"/>
            <a:ext cx="64008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474720"/>
            <a:ext cx="914400" cy="9144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538728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現在の契約、見直すべき段階ではありませんか？ 3つの警告サイン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26060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91440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005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リスク顕在化のサイン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664208"/>
            <a:ext cx="201168" cy="201168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276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ベンダー対応が遅い・不安定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" y="2441448"/>
            <a:ext cx="201168" cy="201168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4048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担当者変更で品質低下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" y="3218688"/>
            <a:ext cx="201168" cy="201168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18211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「前払いだから」でシステム改修を先送り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91840" y="914400"/>
            <a:ext cx="26060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91440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1005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説明責任が果たせていないサイン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383280" y="1508760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3456432" y="1664208"/>
            <a:ext cx="201168" cy="201168"/>
          </a:xfrm>
          <a:prstGeom prst="ellipse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749040" y="16276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理由が「慣習」「ベンダーの指示」のみ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56432" y="2441448"/>
            <a:ext cx="201168" cy="201168"/>
          </a:xfrm>
          <a:prstGeom prst="ellipse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749040" y="24048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割引率・精算ルール等の合理的理由が不明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26480" y="914400"/>
            <a:ext cx="26060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26480" y="914400"/>
            <a:ext cx="2606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1005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交渉力が低下しているサイン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17920" y="1508760"/>
            <a:ext cx="24231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3"/>
          <p:cNvSpPr/>
          <p:nvPr/>
        </p:nvSpPr>
        <p:spPr>
          <a:xfrm>
            <a:off x="6291072" y="1664208"/>
            <a:ext cx="201168" cy="201168"/>
          </a:xfrm>
          <a:prstGeom prst="ellipse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16276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検証なしで「昨年と同額」更新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91072" y="2441448"/>
            <a:ext cx="201168" cy="201168"/>
          </a:xfrm>
          <a:prstGeom prst="ellipse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583680" y="24048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月額移行を即座に拒否される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91072" y="3218688"/>
            <a:ext cx="201168" cy="201168"/>
          </a:xfrm>
          <a:prstGeom prst="ellipse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318211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支払方式の選択権がない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発注者が抱える「前払い契約」4つの問題点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96926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サービス品質リスク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代金受領済みでベンダーの優先度が低下。問題発生時も実質的な是正手段（支払保留・減額）がない。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350008"/>
            <a:ext cx="3840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86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例：「改善の約束」だけで済まされ、担当者が他案件へ異動。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23444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9144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96926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契約変更の困難さ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00600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支払済み費用が「サンクコスト」となり、システム統廃合や内製化など必要な見直し判断が遅れる。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350008"/>
            <a:ext cx="3840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2386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例：「もったいないから使い切ろう」でベンダー依存が長期化。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06324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798064"/>
            <a:ext cx="530352" cy="530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ガバナンス上の弱さ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94360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明確な根拠（割引・精算条件）がない前払いは、稟議や外部監査で合理的な説明が困難。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178808"/>
            <a:ext cx="3840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215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例：「慣習だから」以外の説明ができず、内部統制上の指摘リスクに。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63440" y="306324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0" y="27432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798064"/>
            <a:ext cx="530352" cy="5303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035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コスト妥当性の検証不能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4800600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費用と実績の内訳が見えず、適正価格か判断できない。値下げ交渉の根拠データが蓄積されない。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754880" y="4178808"/>
            <a:ext cx="3840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46320" y="4215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例：検証材料がなく、毎回「昨年と同額」で合意せざるを得ない。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月額払い（分割払い）への移行メリット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5661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241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24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【As-Is】前払い（一括）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5544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支払いと価値が乖離（支払済み）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08483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品質低下時の交渉カードなし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1518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SLA・KPIが形骸化しやすい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1455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切替判断が遅れる（サンクコスト）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675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コスト妥当性の検証不能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560320"/>
            <a:ext cx="822960" cy="640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212080" y="868680"/>
            <a:ext cx="3566160" cy="402336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0" y="640080"/>
            <a:ext cx="2286000" cy="2286000"/>
          </a:xfrm>
          <a:prstGeom prst="ellipse">
            <a:avLst/>
          </a:prstGeom>
          <a:solidFill>
            <a:srgbClr val="D1FAE5">
              <a:alpha val="5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2412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2160" y="1024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【To-Be】月額払い（分割）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349240" y="1417320"/>
            <a:ext cx="3337560" cy="18288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18" name="Text 13"/>
          <p:cNvSpPr/>
          <p:nvPr/>
        </p:nvSpPr>
        <p:spPr>
          <a:xfrm>
            <a:off x="5349240" y="15544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当月の実績に対して支払う（価値と連動）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49240" y="208483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翌月減額・是正要求が可能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349240" y="261518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SLA未達時の減額を適用しやすい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349240" y="31455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切替・解約が現実的な選択肢に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49240" y="3675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月次で実績と費用を対比可能（交渉根拠）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ベンダー交渉への準備と戦略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ベンダーの主張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発注者の反論と交渉ポイント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前払いで要員確保・優先度向上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73352"/>
            <a:ext cx="548640" cy="27432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6733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37490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契約条項・SLAで代替可能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（要員固定、初動時間明記）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事務コスト削減・単価割引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2633472"/>
            <a:ext cx="548640" cy="27432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377440"/>
            <a:ext cx="37490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割引根拠の提示を要求。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月額価格と比較検討する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383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緊急対応が安定する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593592"/>
            <a:ext cx="548640" cy="27432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593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337560"/>
            <a:ext cx="374904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3383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障害対応SLAと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減額条項で担保する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交渉フレームワーク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060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BATNA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2304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(代替案)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60604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697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交渉決裂時の最善の代替案を準備。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（他社見積もり、内製化検討、縮小案）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6060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0058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1430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ZOPA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29000" y="2304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(合意可能範囲)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29000" y="2606040"/>
            <a:ext cx="2331720" cy="18288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6" name="Text 12"/>
          <p:cNvSpPr/>
          <p:nvPr/>
        </p:nvSpPr>
        <p:spPr>
          <a:xfrm>
            <a:off x="3429000" y="2697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双方の許容範囲の重なりを見つける。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（例：四半期払い、割引率明記、精算ルール設定）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868680"/>
            <a:ext cx="26060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0058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430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撤退ライン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263640" y="2606040"/>
            <a:ext cx="2331720" cy="1828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2" name="Text 17"/>
          <p:cNvSpPr/>
          <p:nvPr/>
        </p:nvSpPr>
        <p:spPr>
          <a:xfrm>
            <a:off x="6263640" y="2697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交渉を打ち切る基準を事前合意。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（合理的根拠なし、SLA拒否、月額提示拒否なら見送る）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548640"/>
            <a:ext cx="7315200" cy="164592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640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本質的な問いかけ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「そのメリットは、前払いでなければ実現できないのか？」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要員確保や優先対応は、契約条項・SLAで代替可能です。
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前払いは必須条件ではなく、数ある手段の一つに過ぎません。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前払いの問題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133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支払い済みで交渉力ゼロ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7947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4133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月額払い移行で価値と連動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79476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交渉戦略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4133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BATNA・ZOPA・撤退ラインを準備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Company Logo]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業務システム委託：前払い契約のリスクと対策</dc:title>
  <dc:subject>PptxGenJS Presentation</dc:subject>
  <dc:creator>PptxGenJS</dc:creator>
  <cp:lastModifiedBy>PptxGenJS</cp:lastModifiedBy>
  <cp:revision>1</cp:revision>
  <dcterms:created xsi:type="dcterms:W3CDTF">2026-03-14T01:07:44Z</dcterms:created>
  <dcterms:modified xsi:type="dcterms:W3CDTF">2026-03-14T01:07:44Z</dcterms:modified>
</cp:coreProperties>
</file>