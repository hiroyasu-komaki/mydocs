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1C2B36"/>
          </a:solidFill>
          <a:ln cap="flat" cmpd="sng" w="12700">
            <a:solidFill>
              <a:srgbClr val="1C2B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228600" y="50292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91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891E"/>
                </a:solidFill>
                <a:latin typeface="Calibri"/>
                <a:ea typeface="Calibri"/>
                <a:cs typeface="Calibri"/>
                <a:sym typeface="Calibri"/>
              </a:rPr>
              <a:t>WRAP 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28600" y="1005840"/>
            <a:ext cx="31546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ICTコストの最適化は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“仕組み”で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実現できる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28600" y="315468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VMOが提供する3つのレバー：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Spend Data × Contract Master × 早期関与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228600" y="4526280"/>
            <a:ext cx="1280160" cy="347472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228600" y="452628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749040" y="384048"/>
            <a:ext cx="5212080" cy="67665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3822192" y="420624"/>
            <a:ext cx="4114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91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5891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279392" y="438912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現状認識と仮説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279392" y="713232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ICTコストは、大きな最適化余地があるのでは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3749040" y="1152144"/>
            <a:ext cx="5212080" cy="67665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3822192" y="1188720"/>
            <a:ext cx="4114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91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5891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279392" y="120700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Spend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4279392" y="1481328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「探るべき場所」 を示す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3749040" y="1920240"/>
            <a:ext cx="5212080" cy="67665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3822192" y="1956816"/>
            <a:ext cx="4114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91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5891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279392" y="1975104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Contract Master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4279392" y="2249424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「交渉材料」 を提供する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3749040" y="2688336"/>
            <a:ext cx="5212080" cy="67665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3822192" y="2724912"/>
            <a:ext cx="4114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91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5891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4279392" y="274320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早期関与が最大のポイント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4279392" y="3017520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交渉準備は早いほど効果が望める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3749040" y="3456432"/>
            <a:ext cx="5212080" cy="67665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3822192" y="3493008"/>
            <a:ext cx="4114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91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5891E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4279392" y="3511296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VMOの早期巻き込み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4279392" y="3785616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VMO巻き込みのもう一つの価値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3749040" y="4224528"/>
            <a:ext cx="5212080" cy="676656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3822192" y="4261104"/>
            <a:ext cx="4114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279392" y="4279392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結論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4279392" y="4553712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F1F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4F1F4"/>
                </a:solidFill>
                <a:latin typeface="Calibri"/>
                <a:ea typeface="Calibri"/>
                <a:cs typeface="Calibri"/>
                <a:sym typeface="Calibri"/>
              </a:rPr>
              <a:t>VMOが実現する 「価値提供サイクル」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B36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91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891E"/>
                </a:solidFill>
                <a:latin typeface="Calibri"/>
                <a:ea typeface="Calibri"/>
                <a:cs typeface="Calibri"/>
                <a:sym typeface="Calibri"/>
              </a:rPr>
              <a:t>現状認識と仮説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57200" y="777240"/>
            <a:ext cx="384048" cy="384048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57200" y="7772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960120" y="713232"/>
            <a:ext cx="7772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ICTコストは、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大きな最適化余地があるのでは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57200" y="1691640"/>
            <a:ext cx="8229600" cy="27432"/>
          </a:xfrm>
          <a:prstGeom prst="rect">
            <a:avLst/>
          </a:prstGeom>
          <a:solidFill>
            <a:srgbClr val="2E4057"/>
          </a:solidFill>
          <a:ln cap="flat" cmpd="sng" w="12700">
            <a:solidFill>
              <a:srgbClr val="2E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457200" y="18745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91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891E"/>
                </a:solidFill>
                <a:latin typeface="Calibri"/>
                <a:ea typeface="Calibri"/>
                <a:cs typeface="Calibri"/>
                <a:sym typeface="Calibri"/>
              </a:rPr>
              <a:t>現状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57200" y="2194560"/>
            <a:ext cx="3931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発注・契約が部門ごとに分散しており、単価のばらつきや重複契約が見えにくい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その結果、適正価格での交渉が十分にできていない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754880" y="1828800"/>
            <a:ext cx="3931920" cy="2560320"/>
          </a:xfrm>
          <a:prstGeom prst="rect">
            <a:avLst/>
          </a:prstGeom>
          <a:solidFill>
            <a:srgbClr val="2E4057"/>
          </a:solidFill>
          <a:ln cap="flat" cmpd="sng" w="12700">
            <a:solidFill>
              <a:srgbClr val="2E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4754880" y="1828800"/>
            <a:ext cx="73152" cy="2560320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4919472" y="1965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91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891E"/>
                </a:solidFill>
                <a:latin typeface="Calibri"/>
                <a:ea typeface="Calibri"/>
                <a:cs typeface="Calibri"/>
                <a:sym typeface="Calibri"/>
              </a:rPr>
              <a:t>示唆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919472" y="2331720"/>
            <a:ext cx="36576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コスト最適化の余地は残されている。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しかし、それを引き出すには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「見えていない」状態を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まず解消することが先決。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＝ コスト最適化は 「可視化」 から始まる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B36"/>
          </a:solidFill>
          <a:ln cap="flat" cmpd="sng" w="12700">
            <a:solidFill>
              <a:srgbClr val="1C2B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457200" y="0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VMOが提供する3つのレバー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64592" y="868680"/>
            <a:ext cx="2834640" cy="4069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164592" y="868680"/>
            <a:ext cx="2834640" cy="1005840"/>
          </a:xfrm>
          <a:prstGeom prst="rect">
            <a:avLst/>
          </a:prstGeom>
          <a:solidFill>
            <a:srgbClr val="1C2B36"/>
          </a:solidFill>
          <a:ln cap="flat" cmpd="sng" w="12700">
            <a:solidFill>
              <a:srgbClr val="1C2B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301752" y="960120"/>
            <a:ext cx="347472" cy="347472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301752" y="96012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2304" y="96012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274320" y="137160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Spend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274320" y="1673352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91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5891E"/>
                </a:solidFill>
                <a:latin typeface="Calibri"/>
                <a:ea typeface="Calibri"/>
                <a:cs typeface="Calibri"/>
                <a:sym typeface="Calibri"/>
              </a:rPr>
              <a:t>「探るべき場所」 を示す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01752" y="1920240"/>
            <a:ext cx="2560320" cy="27432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F4F6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301752" y="2011680"/>
            <a:ext cx="26060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2B3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分散している支出データを統合し分析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2B3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高止まり・重複・テコ入れ領域が明確に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64592" y="3685032"/>
            <a:ext cx="2834640" cy="1252728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F4F6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164592" y="3685032"/>
            <a:ext cx="54864" cy="1252728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301752" y="3730752"/>
            <a:ext cx="2651760" cy="1161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0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620A"/>
                </a:solidFill>
                <a:latin typeface="Calibri"/>
                <a:ea typeface="Calibri"/>
                <a:cs typeface="Calibri"/>
                <a:sym typeface="Calibri"/>
              </a:rPr>
              <a:t>＝ コスト最適化は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0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620A"/>
                </a:solidFill>
                <a:latin typeface="Calibri"/>
                <a:ea typeface="Calibri"/>
                <a:cs typeface="Calibri"/>
                <a:sym typeface="Calibri"/>
              </a:rPr>
              <a:t>「可視化」から始まる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136392" y="868680"/>
            <a:ext cx="2834640" cy="4069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3136392" y="868680"/>
            <a:ext cx="2834640" cy="1005840"/>
          </a:xfrm>
          <a:prstGeom prst="rect">
            <a:avLst/>
          </a:prstGeom>
          <a:solidFill>
            <a:srgbClr val="1C2B36"/>
          </a:solidFill>
          <a:ln cap="flat" cmpd="sng" w="12700">
            <a:solidFill>
              <a:srgbClr val="1C2B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3273552" y="960120"/>
            <a:ext cx="347472" cy="347472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3273552" y="96012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" name="Google Shape;8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4104" y="96012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5"/>
          <p:cNvSpPr/>
          <p:nvPr/>
        </p:nvSpPr>
        <p:spPr>
          <a:xfrm>
            <a:off x="3246120" y="137160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Contract Master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3246120" y="1673352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91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5891E"/>
                </a:solidFill>
                <a:latin typeface="Calibri"/>
                <a:ea typeface="Calibri"/>
                <a:cs typeface="Calibri"/>
                <a:sym typeface="Calibri"/>
              </a:rPr>
              <a:t>「交渉材料」 を提供する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273552" y="1920240"/>
            <a:ext cx="2560320" cy="27432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F4F6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3273552" y="2011680"/>
            <a:ext cx="26060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2B3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契約条件・期限・価格モデルを一元管理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2B3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契約更新・RFP・相見積もりの効果が向上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136392" y="3685032"/>
            <a:ext cx="2834640" cy="1252728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F4F6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3136392" y="3685032"/>
            <a:ext cx="54864" cy="1252728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3273552" y="3730752"/>
            <a:ext cx="2651760" cy="1161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0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620A"/>
                </a:solidFill>
                <a:latin typeface="Calibri"/>
                <a:ea typeface="Calibri"/>
                <a:cs typeface="Calibri"/>
                <a:sym typeface="Calibri"/>
              </a:rPr>
              <a:t>＝ 交渉タスクの効果を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0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620A"/>
                </a:solidFill>
                <a:latin typeface="Calibri"/>
                <a:ea typeface="Calibri"/>
                <a:cs typeface="Calibri"/>
                <a:sym typeface="Calibri"/>
              </a:rPr>
              <a:t>向上するための基盤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108192" y="868680"/>
            <a:ext cx="2834640" cy="4069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6108192" y="868680"/>
            <a:ext cx="2834640" cy="1005840"/>
          </a:xfrm>
          <a:prstGeom prst="rect">
            <a:avLst/>
          </a:prstGeom>
          <a:solidFill>
            <a:srgbClr val="1C2B36"/>
          </a:solidFill>
          <a:ln cap="flat" cmpd="sng" w="12700">
            <a:solidFill>
              <a:srgbClr val="1C2B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6245352" y="960120"/>
            <a:ext cx="347472" cy="347472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6245352" y="96012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5904" y="96012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/>
          <p:nvPr/>
        </p:nvSpPr>
        <p:spPr>
          <a:xfrm>
            <a:off x="6217920" y="137160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早期関与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6217920" y="1673352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91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5891E"/>
                </a:solidFill>
                <a:latin typeface="Calibri"/>
                <a:ea typeface="Calibri"/>
                <a:cs typeface="Calibri"/>
                <a:sym typeface="Calibri"/>
              </a:rPr>
              <a:t>交渉準備は早いほど効果が望める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245352" y="1920240"/>
            <a:ext cx="2560320" cy="27432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F4F6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6245352" y="2011680"/>
            <a:ext cx="26060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2B3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検討初期から関与で適正価格設定が可能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2B3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競争が起こりやすいRFP設計・比較基準の統一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108192" y="3685032"/>
            <a:ext cx="2834640" cy="1252728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F4F6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6108192" y="3685032"/>
            <a:ext cx="54864" cy="1252728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6245352" y="3730752"/>
            <a:ext cx="2651760" cy="1161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0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620A"/>
                </a:solidFill>
                <a:latin typeface="Calibri"/>
                <a:ea typeface="Calibri"/>
                <a:cs typeface="Calibri"/>
                <a:sym typeface="Calibri"/>
              </a:rPr>
              <a:t>＝ 最大のポイント：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0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620A"/>
                </a:solidFill>
                <a:latin typeface="Calibri"/>
                <a:ea typeface="Calibri"/>
                <a:cs typeface="Calibri"/>
                <a:sym typeface="Calibri"/>
              </a:rPr>
              <a:t>交渉インパクトが期待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B36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/>
          <p:nvPr/>
        </p:nvSpPr>
        <p:spPr>
          <a:xfrm>
            <a:off x="457200" y="3200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91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891E"/>
                </a:solidFill>
                <a:latin typeface="Calibri"/>
                <a:ea typeface="Calibri"/>
                <a:cs typeface="Calibri"/>
                <a:sym typeface="Calibri"/>
              </a:rPr>
              <a:t>VMOの早期巻き込みは、「作業負担の軽減」 にも効く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57200" y="896112"/>
            <a:ext cx="384048" cy="384048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57200" y="89611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960120" y="841248"/>
            <a:ext cx="7680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コスト削減だけでなく、現場担当者の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負担を大幅に軽減します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57200" y="1828800"/>
            <a:ext cx="4023360" cy="12344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2E405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57200" y="1828800"/>
            <a:ext cx="64008" cy="1234440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208483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/>
          <p:nvPr/>
        </p:nvSpPr>
        <p:spPr>
          <a:xfrm>
            <a:off x="1143000" y="199339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latin typeface="Calibri"/>
                <a:ea typeface="Calibri"/>
                <a:cs typeface="Calibri"/>
                <a:sym typeface="Calibri"/>
              </a:rPr>
              <a:t>要件整理</a:t>
            </a:r>
            <a:endParaRPr b="0" i="0" sz="13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143000" y="233172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latin typeface="Calibri"/>
                <a:ea typeface="Calibri"/>
                <a:cs typeface="Calibri"/>
                <a:sym typeface="Calibri"/>
              </a:rPr>
              <a:t>ビジネス要件をVMOが整理・構造化</a:t>
            </a:r>
            <a:endParaRPr b="0" i="0" sz="105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800600" y="1828800"/>
            <a:ext cx="4023360" cy="12344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2E405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800600" y="1828800"/>
            <a:ext cx="64008" cy="1234440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5192" y="208483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/>
          <p:nvPr/>
        </p:nvSpPr>
        <p:spPr>
          <a:xfrm>
            <a:off x="5486400" y="199339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latin typeface="Calibri"/>
                <a:ea typeface="Calibri"/>
                <a:cs typeface="Calibri"/>
                <a:sym typeface="Calibri"/>
              </a:rPr>
              <a:t>RFP作成</a:t>
            </a:r>
            <a:endParaRPr b="0" i="0" sz="13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486400" y="233172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latin typeface="Calibri"/>
                <a:ea typeface="Calibri"/>
                <a:cs typeface="Calibri"/>
                <a:sym typeface="Calibri"/>
              </a:rPr>
              <a:t>競争を促すRFP文書を設計・作成</a:t>
            </a:r>
            <a:endParaRPr b="0" i="0" sz="105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57200" y="3246120"/>
            <a:ext cx="4023360" cy="12344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2E405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57200" y="3246120"/>
            <a:ext cx="64008" cy="1234440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792" y="350215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/>
          <p:nvPr/>
        </p:nvSpPr>
        <p:spPr>
          <a:xfrm>
            <a:off x="1143000" y="341071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latin typeface="Calibri"/>
                <a:ea typeface="Calibri"/>
                <a:cs typeface="Calibri"/>
                <a:sym typeface="Calibri"/>
              </a:rPr>
              <a:t>比較表作成</a:t>
            </a:r>
            <a:endParaRPr b="0" i="0" sz="13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1143000" y="374904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latin typeface="Calibri"/>
                <a:ea typeface="Calibri"/>
                <a:cs typeface="Calibri"/>
                <a:sym typeface="Calibri"/>
              </a:rPr>
              <a:t>ベンダー比較を標準フォーマットで作成</a:t>
            </a:r>
            <a:endParaRPr b="0" i="0" sz="105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800600" y="3246120"/>
            <a:ext cx="4023360" cy="12344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2E405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800600" y="3246120"/>
            <a:ext cx="64008" cy="1234440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5192" y="350215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5486400" y="341071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latin typeface="Calibri"/>
                <a:ea typeface="Calibri"/>
                <a:cs typeface="Calibri"/>
                <a:sym typeface="Calibri"/>
              </a:rPr>
              <a:t>契約レビュー</a:t>
            </a:r>
            <a:endParaRPr b="0" i="0" sz="13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486400" y="374904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latin typeface="Calibri"/>
                <a:ea typeface="Calibri"/>
                <a:cs typeface="Calibri"/>
                <a:sym typeface="Calibri"/>
              </a:rPr>
              <a:t>契約リスクの確認・条件の最適化</a:t>
            </a:r>
            <a:endParaRPr b="0" i="0" sz="105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を支援することで、担当者の作業負荷が減少する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B36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/>
          <p:nvPr/>
        </p:nvSpPr>
        <p:spPr>
          <a:xfrm>
            <a:off x="457200" y="29260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91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891E"/>
                </a:solidFill>
                <a:latin typeface="Calibri"/>
                <a:ea typeface="Calibri"/>
                <a:cs typeface="Calibri"/>
                <a:sym typeface="Calibri"/>
              </a:rPr>
              <a:t>結論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VMOが実現する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「価値提供サイクル」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365760" y="1920240"/>
            <a:ext cx="2651760" cy="260604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2E405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365760" y="1920240"/>
            <a:ext cx="2651760" cy="64008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502920" y="20299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0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8620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02920" y="2487168"/>
            <a:ext cx="23957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探し（戦略）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02920" y="2907792"/>
            <a:ext cx="2395728" cy="292608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502920" y="2907792"/>
            <a:ext cx="23957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Spend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02920" y="3291840"/>
            <a:ext cx="239572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支出データを統合・分析し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最適化ターゲットを特定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035808" y="1920240"/>
            <a:ext cx="164592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0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8620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200400" y="1920240"/>
            <a:ext cx="2651760" cy="260604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2E405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3200400" y="1920240"/>
            <a:ext cx="2651760" cy="64008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3337560" y="20299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0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8620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3337560" y="2487168"/>
            <a:ext cx="23957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戦術を組み立て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337560" y="2907792"/>
            <a:ext cx="2395728" cy="292608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3337560" y="2907792"/>
            <a:ext cx="23957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Contract Master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337560" y="3291840"/>
            <a:ext cx="239572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契約情報を一元化し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交渉材料・RFP設計を準備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5870448" y="1920240"/>
            <a:ext cx="164592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0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8620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035040" y="1920240"/>
            <a:ext cx="2651760" cy="260604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2E405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6035040" y="1920240"/>
            <a:ext cx="2651760" cy="64008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6172200" y="20299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0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8620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172200" y="2487168"/>
            <a:ext cx="23957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優位に進める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172200" y="2907792"/>
            <a:ext cx="2395728" cy="292608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6172200" y="2907792"/>
            <a:ext cx="23957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早期巻き込み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172200" y="3291840"/>
            <a:ext cx="239572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検討初期から関与し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交渉インパクトを最大化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これがVMOの価値であり、組織としてコスト最適化を 「仕組みとして回す」 ための方法です。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B36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914400" y="50292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そのために、皆さまへのお願い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VMOが「仕組みとして」機能するために、以下2点のご協力をお願いします。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594360" y="1783080"/>
            <a:ext cx="3840480" cy="27432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2E405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594360" y="1783080"/>
            <a:ext cx="3840480" cy="502920"/>
          </a:xfrm>
          <a:prstGeom prst="rect">
            <a:avLst/>
          </a:prstGeom>
          <a:solidFill>
            <a:srgbClr val="C94B0A"/>
          </a:solidFill>
          <a:ln cap="flat" cmpd="sng" w="12700">
            <a:solidFill>
              <a:srgbClr val="C94B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731520" y="17830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①　契約情報の提供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1" name="Google Shape;1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1880" y="242316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8"/>
          <p:cNvSpPr/>
          <p:nvPr/>
        </p:nvSpPr>
        <p:spPr>
          <a:xfrm>
            <a:off x="822960" y="2423160"/>
            <a:ext cx="2651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現在ご利用中の契約・ベンダー情報をVMOへ共有ください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846320" y="1783080"/>
            <a:ext cx="3840480" cy="27432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2E405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4846320" y="1783080"/>
            <a:ext cx="3840480" cy="502920"/>
          </a:xfrm>
          <a:prstGeom prst="rect">
            <a:avLst/>
          </a:prstGeom>
          <a:solidFill>
            <a:srgbClr val="C94B0A"/>
          </a:solidFill>
          <a:ln cap="flat" cmpd="sng" w="12700">
            <a:solidFill>
              <a:srgbClr val="C94B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4983480" y="17830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②　RFP・見積取得前の相談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6" name="Google Shape;18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3840" y="242316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/>
          <p:nvPr/>
        </p:nvSpPr>
        <p:spPr>
          <a:xfrm>
            <a:off x="5074920" y="2423160"/>
            <a:ext cx="2651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新規発注・更新の検討開始時点でVMOにお声がけください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8620A"/>
          </a:solidFill>
          <a:ln cap="flat" cmpd="sng" w="12700">
            <a:solidFill>
              <a:srgbClr val="E86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VMO — Vendor Management Office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